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8" r:id="rId3"/>
    <p:sldId id="264" r:id="rId4"/>
    <p:sldId id="265" r:id="rId5"/>
    <p:sldId id="266" r:id="rId6"/>
    <p:sldId id="258" r:id="rId7"/>
    <p:sldId id="267" r:id="rId8"/>
    <p:sldId id="269" r:id="rId9"/>
    <p:sldId id="270" r:id="rId10"/>
    <p:sldId id="271" r:id="rId11"/>
    <p:sldId id="257" r:id="rId12"/>
    <p:sldId id="261" r:id="rId13"/>
    <p:sldId id="262" r:id="rId14"/>
    <p:sldId id="259" r:id="rId15"/>
    <p:sldId id="263" r:id="rId16"/>
    <p:sldId id="260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00721C-3F93-42EF-87A4-C81A3938144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748C107-DC60-4AEA-9BCF-C143494949DD}">
      <dgm:prSet/>
      <dgm:spPr/>
      <dgm:t>
        <a:bodyPr/>
        <a:lstStyle/>
        <a:p>
          <a:r>
            <a:rPr lang="en-US" b="1"/>
            <a:t>Problem</a:t>
          </a:r>
          <a:endParaRPr lang="en-US"/>
        </a:p>
      </dgm:t>
    </dgm:pt>
    <dgm:pt modelId="{7F31A7B5-5C8B-4350-AE77-52C2501E6726}" type="parTrans" cxnId="{25B5094A-9F4F-418D-94CF-26B2621FF64E}">
      <dgm:prSet/>
      <dgm:spPr/>
      <dgm:t>
        <a:bodyPr/>
        <a:lstStyle/>
        <a:p>
          <a:endParaRPr lang="en-US"/>
        </a:p>
      </dgm:t>
    </dgm:pt>
    <dgm:pt modelId="{F113B555-7BCC-471D-9BB3-F2D544F0B291}" type="sibTrans" cxnId="{25B5094A-9F4F-418D-94CF-26B2621FF64E}">
      <dgm:prSet/>
      <dgm:spPr/>
      <dgm:t>
        <a:bodyPr/>
        <a:lstStyle/>
        <a:p>
          <a:endParaRPr lang="en-US"/>
        </a:p>
      </dgm:t>
    </dgm:pt>
    <dgm:pt modelId="{3430DA8A-3CD3-4B45-B556-DA8FD96EDA10}">
      <dgm:prSet/>
      <dgm:spPr/>
      <dgm:t>
        <a:bodyPr/>
        <a:lstStyle/>
        <a:p>
          <a:r>
            <a:rPr lang="en-US"/>
            <a:t>While building the car, engineers tweak the model all the time:</a:t>
          </a:r>
        </a:p>
      </dgm:t>
    </dgm:pt>
    <dgm:pt modelId="{6BCDA3ED-DE6F-4DA6-A603-378F0EBC9B79}" type="parTrans" cxnId="{5E3D0A77-D61D-41B8-931F-A9B638F1A8D4}">
      <dgm:prSet/>
      <dgm:spPr/>
      <dgm:t>
        <a:bodyPr/>
        <a:lstStyle/>
        <a:p>
          <a:endParaRPr lang="en-US"/>
        </a:p>
      </dgm:t>
    </dgm:pt>
    <dgm:pt modelId="{7A84238D-9E6B-4FFD-8CC7-A44756CDB377}" type="sibTrans" cxnId="{5E3D0A77-D61D-41B8-931F-A9B638F1A8D4}">
      <dgm:prSet/>
      <dgm:spPr/>
      <dgm:t>
        <a:bodyPr/>
        <a:lstStyle/>
        <a:p>
          <a:endParaRPr lang="en-US"/>
        </a:p>
      </dgm:t>
    </dgm:pt>
    <dgm:pt modelId="{3F6B9E3B-5CA2-44BE-90FC-2D1EA26CAB70}">
      <dgm:prSet/>
      <dgm:spPr/>
      <dgm:t>
        <a:bodyPr/>
        <a:lstStyle/>
        <a:p>
          <a:r>
            <a:rPr lang="en-US"/>
            <a:t>Changing layers</a:t>
          </a:r>
        </a:p>
      </dgm:t>
    </dgm:pt>
    <dgm:pt modelId="{595D82A8-A62A-4144-A44E-3943A607F46B}" type="parTrans" cxnId="{6D3631E7-5157-4140-B17D-B1C98E4494E4}">
      <dgm:prSet/>
      <dgm:spPr/>
      <dgm:t>
        <a:bodyPr/>
        <a:lstStyle/>
        <a:p>
          <a:endParaRPr lang="en-US"/>
        </a:p>
      </dgm:t>
    </dgm:pt>
    <dgm:pt modelId="{43D3BED2-9E4E-471B-9766-46484F0C506A}" type="sibTrans" cxnId="{6D3631E7-5157-4140-B17D-B1C98E4494E4}">
      <dgm:prSet/>
      <dgm:spPr/>
      <dgm:t>
        <a:bodyPr/>
        <a:lstStyle/>
        <a:p>
          <a:endParaRPr lang="en-US"/>
        </a:p>
      </dgm:t>
    </dgm:pt>
    <dgm:pt modelId="{8184CC6B-3BF3-4708-96E8-4E5DA940C97D}">
      <dgm:prSet/>
      <dgm:spPr/>
      <dgm:t>
        <a:bodyPr/>
        <a:lstStyle/>
        <a:p>
          <a:r>
            <a:rPr lang="en-US"/>
            <a:t>Adjusting learning rates</a:t>
          </a:r>
        </a:p>
      </dgm:t>
    </dgm:pt>
    <dgm:pt modelId="{28383B84-361E-4340-9ACB-D4BE502071C7}" type="parTrans" cxnId="{988C57D6-3652-48B7-8355-7C5087A72C71}">
      <dgm:prSet/>
      <dgm:spPr/>
      <dgm:t>
        <a:bodyPr/>
        <a:lstStyle/>
        <a:p>
          <a:endParaRPr lang="en-US"/>
        </a:p>
      </dgm:t>
    </dgm:pt>
    <dgm:pt modelId="{67D41952-14C3-4300-AAE1-D7D1F09DF580}" type="sibTrans" cxnId="{988C57D6-3652-48B7-8355-7C5087A72C71}">
      <dgm:prSet/>
      <dgm:spPr/>
      <dgm:t>
        <a:bodyPr/>
        <a:lstStyle/>
        <a:p>
          <a:endParaRPr lang="en-US"/>
        </a:p>
      </dgm:t>
    </dgm:pt>
    <dgm:pt modelId="{AE888F14-C1A6-401B-8C61-AE7DF2FA1D23}">
      <dgm:prSet/>
      <dgm:spPr/>
      <dgm:t>
        <a:bodyPr/>
        <a:lstStyle/>
        <a:p>
          <a:r>
            <a:rPr lang="en-US"/>
            <a:t>Testing new architectures</a:t>
          </a:r>
        </a:p>
      </dgm:t>
    </dgm:pt>
    <dgm:pt modelId="{880B51BC-4513-49E7-84B4-42693D63FE98}" type="parTrans" cxnId="{865FA964-9806-40A5-95E5-F2F395CAE38A}">
      <dgm:prSet/>
      <dgm:spPr/>
      <dgm:t>
        <a:bodyPr/>
        <a:lstStyle/>
        <a:p>
          <a:endParaRPr lang="en-US"/>
        </a:p>
      </dgm:t>
    </dgm:pt>
    <dgm:pt modelId="{356B7EEC-476F-4396-9855-1032DC6F75F6}" type="sibTrans" cxnId="{865FA964-9806-40A5-95E5-F2F395CAE38A}">
      <dgm:prSet/>
      <dgm:spPr/>
      <dgm:t>
        <a:bodyPr/>
        <a:lstStyle/>
        <a:p>
          <a:endParaRPr lang="en-US"/>
        </a:p>
      </dgm:t>
    </dgm:pt>
    <dgm:pt modelId="{80C64ADD-E736-4ED4-82C3-97F5FE282029}">
      <dgm:prSet/>
      <dgm:spPr/>
      <dgm:t>
        <a:bodyPr/>
        <a:lstStyle/>
        <a:p>
          <a:r>
            <a:rPr lang="en-US"/>
            <a:t>If they check performance on the test set every time, the model </a:t>
          </a:r>
          <a:r>
            <a:rPr lang="en-US" b="1"/>
            <a:t>starts to “cheat”</a:t>
          </a:r>
          <a:r>
            <a:rPr lang="en-US"/>
            <a:t> → test results become unreliable.</a:t>
          </a:r>
        </a:p>
      </dgm:t>
    </dgm:pt>
    <dgm:pt modelId="{65C83D56-402A-407C-B0D9-2811BE083CEF}" type="parTrans" cxnId="{4519E08B-B15C-4F9B-988C-D16F90D39DF0}">
      <dgm:prSet/>
      <dgm:spPr/>
      <dgm:t>
        <a:bodyPr/>
        <a:lstStyle/>
        <a:p>
          <a:endParaRPr lang="en-US"/>
        </a:p>
      </dgm:t>
    </dgm:pt>
    <dgm:pt modelId="{4B758C3F-D507-4ABA-A7D8-6B8633F3F4E1}" type="sibTrans" cxnId="{4519E08B-B15C-4F9B-988C-D16F90D39DF0}">
      <dgm:prSet/>
      <dgm:spPr/>
      <dgm:t>
        <a:bodyPr/>
        <a:lstStyle/>
        <a:p>
          <a:endParaRPr lang="en-US"/>
        </a:p>
      </dgm:t>
    </dgm:pt>
    <dgm:pt modelId="{12DDEA19-98FC-4F4F-9940-36492E1376D1}" type="pres">
      <dgm:prSet presAssocID="{0700721C-3F93-42EF-87A4-C81A39381445}" presName="Name0" presStyleCnt="0">
        <dgm:presLayoutVars>
          <dgm:dir/>
          <dgm:resizeHandles val="exact"/>
        </dgm:presLayoutVars>
      </dgm:prSet>
      <dgm:spPr/>
    </dgm:pt>
    <dgm:pt modelId="{69C7B1FC-D0CE-4EBA-99BB-E0C74896A0F0}" type="pres">
      <dgm:prSet presAssocID="{1748C107-DC60-4AEA-9BCF-C143494949DD}" presName="node" presStyleLbl="node1" presStyleIdx="0" presStyleCnt="6">
        <dgm:presLayoutVars>
          <dgm:bulletEnabled val="1"/>
        </dgm:presLayoutVars>
      </dgm:prSet>
      <dgm:spPr/>
    </dgm:pt>
    <dgm:pt modelId="{991FABFB-AB61-4914-BF53-8A0E2775AEFC}" type="pres">
      <dgm:prSet presAssocID="{F113B555-7BCC-471D-9BB3-F2D544F0B291}" presName="sibTrans" presStyleLbl="sibTrans1D1" presStyleIdx="0" presStyleCnt="5"/>
      <dgm:spPr/>
    </dgm:pt>
    <dgm:pt modelId="{410BC841-8216-46F3-8C5A-4E0AD62E260B}" type="pres">
      <dgm:prSet presAssocID="{F113B555-7BCC-471D-9BB3-F2D544F0B291}" presName="connectorText" presStyleLbl="sibTrans1D1" presStyleIdx="0" presStyleCnt="5"/>
      <dgm:spPr/>
    </dgm:pt>
    <dgm:pt modelId="{2295566A-3A3D-41FA-B345-611B956038C7}" type="pres">
      <dgm:prSet presAssocID="{3430DA8A-3CD3-4B45-B556-DA8FD96EDA10}" presName="node" presStyleLbl="node1" presStyleIdx="1" presStyleCnt="6">
        <dgm:presLayoutVars>
          <dgm:bulletEnabled val="1"/>
        </dgm:presLayoutVars>
      </dgm:prSet>
      <dgm:spPr/>
    </dgm:pt>
    <dgm:pt modelId="{A225FD35-0059-45AC-AAFD-59EA8FACA3D8}" type="pres">
      <dgm:prSet presAssocID="{7A84238D-9E6B-4FFD-8CC7-A44756CDB377}" presName="sibTrans" presStyleLbl="sibTrans1D1" presStyleIdx="1" presStyleCnt="5"/>
      <dgm:spPr/>
    </dgm:pt>
    <dgm:pt modelId="{082A59CF-4CF4-4488-94D1-82F25A6F07A0}" type="pres">
      <dgm:prSet presAssocID="{7A84238D-9E6B-4FFD-8CC7-A44756CDB377}" presName="connectorText" presStyleLbl="sibTrans1D1" presStyleIdx="1" presStyleCnt="5"/>
      <dgm:spPr/>
    </dgm:pt>
    <dgm:pt modelId="{AB6D4302-1191-4490-97F4-CCCC80DA459E}" type="pres">
      <dgm:prSet presAssocID="{3F6B9E3B-5CA2-44BE-90FC-2D1EA26CAB70}" presName="node" presStyleLbl="node1" presStyleIdx="2" presStyleCnt="6">
        <dgm:presLayoutVars>
          <dgm:bulletEnabled val="1"/>
        </dgm:presLayoutVars>
      </dgm:prSet>
      <dgm:spPr/>
    </dgm:pt>
    <dgm:pt modelId="{52BA32F8-DBD3-45DC-BA7C-8B4B881CD479}" type="pres">
      <dgm:prSet presAssocID="{43D3BED2-9E4E-471B-9766-46484F0C506A}" presName="sibTrans" presStyleLbl="sibTrans1D1" presStyleIdx="2" presStyleCnt="5"/>
      <dgm:spPr/>
    </dgm:pt>
    <dgm:pt modelId="{41FF04CD-99D7-4CD2-9CF5-20E1AE57493D}" type="pres">
      <dgm:prSet presAssocID="{43D3BED2-9E4E-471B-9766-46484F0C506A}" presName="connectorText" presStyleLbl="sibTrans1D1" presStyleIdx="2" presStyleCnt="5"/>
      <dgm:spPr/>
    </dgm:pt>
    <dgm:pt modelId="{23FD7DB4-0104-49DB-AA27-8546B7D2D1F4}" type="pres">
      <dgm:prSet presAssocID="{8184CC6B-3BF3-4708-96E8-4E5DA940C97D}" presName="node" presStyleLbl="node1" presStyleIdx="3" presStyleCnt="6">
        <dgm:presLayoutVars>
          <dgm:bulletEnabled val="1"/>
        </dgm:presLayoutVars>
      </dgm:prSet>
      <dgm:spPr/>
    </dgm:pt>
    <dgm:pt modelId="{802BFF40-B793-42E9-80E0-97EC0502A325}" type="pres">
      <dgm:prSet presAssocID="{67D41952-14C3-4300-AAE1-D7D1F09DF580}" presName="sibTrans" presStyleLbl="sibTrans1D1" presStyleIdx="3" presStyleCnt="5"/>
      <dgm:spPr/>
    </dgm:pt>
    <dgm:pt modelId="{5CE61F4A-35DC-499D-84BA-2B1CFDD67030}" type="pres">
      <dgm:prSet presAssocID="{67D41952-14C3-4300-AAE1-D7D1F09DF580}" presName="connectorText" presStyleLbl="sibTrans1D1" presStyleIdx="3" presStyleCnt="5"/>
      <dgm:spPr/>
    </dgm:pt>
    <dgm:pt modelId="{63CDBE16-BEB7-4582-9113-CB813F9BA150}" type="pres">
      <dgm:prSet presAssocID="{AE888F14-C1A6-401B-8C61-AE7DF2FA1D23}" presName="node" presStyleLbl="node1" presStyleIdx="4" presStyleCnt="6">
        <dgm:presLayoutVars>
          <dgm:bulletEnabled val="1"/>
        </dgm:presLayoutVars>
      </dgm:prSet>
      <dgm:spPr/>
    </dgm:pt>
    <dgm:pt modelId="{1FA01E33-1274-46CF-ADFB-B84556D8D795}" type="pres">
      <dgm:prSet presAssocID="{356B7EEC-476F-4396-9855-1032DC6F75F6}" presName="sibTrans" presStyleLbl="sibTrans1D1" presStyleIdx="4" presStyleCnt="5"/>
      <dgm:spPr/>
    </dgm:pt>
    <dgm:pt modelId="{A79C3F6C-4A4A-494F-AA02-41CC875009B1}" type="pres">
      <dgm:prSet presAssocID="{356B7EEC-476F-4396-9855-1032DC6F75F6}" presName="connectorText" presStyleLbl="sibTrans1D1" presStyleIdx="4" presStyleCnt="5"/>
      <dgm:spPr/>
    </dgm:pt>
    <dgm:pt modelId="{AA86DC70-D4A2-4C6D-AA28-453E49FF5C05}" type="pres">
      <dgm:prSet presAssocID="{80C64ADD-E736-4ED4-82C3-97F5FE282029}" presName="node" presStyleLbl="node1" presStyleIdx="5" presStyleCnt="6">
        <dgm:presLayoutVars>
          <dgm:bulletEnabled val="1"/>
        </dgm:presLayoutVars>
      </dgm:prSet>
      <dgm:spPr/>
    </dgm:pt>
  </dgm:ptLst>
  <dgm:cxnLst>
    <dgm:cxn modelId="{53080007-F50B-4B15-829B-8BAFD8AB9CEB}" type="presOf" srcId="{1748C107-DC60-4AEA-9BCF-C143494949DD}" destId="{69C7B1FC-D0CE-4EBA-99BB-E0C74896A0F0}" srcOrd="0" destOrd="0" presId="urn:microsoft.com/office/officeart/2016/7/layout/RepeatingBendingProcessNew"/>
    <dgm:cxn modelId="{3502FD27-9B65-42DC-A5FA-18E85CD82288}" type="presOf" srcId="{F113B555-7BCC-471D-9BB3-F2D544F0B291}" destId="{991FABFB-AB61-4914-BF53-8A0E2775AEFC}" srcOrd="0" destOrd="0" presId="urn:microsoft.com/office/officeart/2016/7/layout/RepeatingBendingProcessNew"/>
    <dgm:cxn modelId="{9E08F434-4BC6-4DC6-807D-6C5D47D88648}" type="presOf" srcId="{67D41952-14C3-4300-AAE1-D7D1F09DF580}" destId="{5CE61F4A-35DC-499D-84BA-2B1CFDD67030}" srcOrd="1" destOrd="0" presId="urn:microsoft.com/office/officeart/2016/7/layout/RepeatingBendingProcessNew"/>
    <dgm:cxn modelId="{865FA964-9806-40A5-95E5-F2F395CAE38A}" srcId="{0700721C-3F93-42EF-87A4-C81A39381445}" destId="{AE888F14-C1A6-401B-8C61-AE7DF2FA1D23}" srcOrd="4" destOrd="0" parTransId="{880B51BC-4513-49E7-84B4-42693D63FE98}" sibTransId="{356B7EEC-476F-4396-9855-1032DC6F75F6}"/>
    <dgm:cxn modelId="{25B5094A-9F4F-418D-94CF-26B2621FF64E}" srcId="{0700721C-3F93-42EF-87A4-C81A39381445}" destId="{1748C107-DC60-4AEA-9BCF-C143494949DD}" srcOrd="0" destOrd="0" parTransId="{7F31A7B5-5C8B-4350-AE77-52C2501E6726}" sibTransId="{F113B555-7BCC-471D-9BB3-F2D544F0B291}"/>
    <dgm:cxn modelId="{28CEC34C-9626-46D7-982F-ED675A4C8612}" type="presOf" srcId="{3F6B9E3B-5CA2-44BE-90FC-2D1EA26CAB70}" destId="{AB6D4302-1191-4490-97F4-CCCC80DA459E}" srcOrd="0" destOrd="0" presId="urn:microsoft.com/office/officeart/2016/7/layout/RepeatingBendingProcessNew"/>
    <dgm:cxn modelId="{B42CDE4E-0D34-490D-B4D2-CA0C0CCE18A3}" type="presOf" srcId="{8184CC6B-3BF3-4708-96E8-4E5DA940C97D}" destId="{23FD7DB4-0104-49DB-AA27-8546B7D2D1F4}" srcOrd="0" destOrd="0" presId="urn:microsoft.com/office/officeart/2016/7/layout/RepeatingBendingProcessNew"/>
    <dgm:cxn modelId="{9D612B55-0D2D-4200-9F15-812881EA92B8}" type="presOf" srcId="{7A84238D-9E6B-4FFD-8CC7-A44756CDB377}" destId="{A225FD35-0059-45AC-AAFD-59EA8FACA3D8}" srcOrd="0" destOrd="0" presId="urn:microsoft.com/office/officeart/2016/7/layout/RepeatingBendingProcessNew"/>
    <dgm:cxn modelId="{5E3D0A77-D61D-41B8-931F-A9B638F1A8D4}" srcId="{0700721C-3F93-42EF-87A4-C81A39381445}" destId="{3430DA8A-3CD3-4B45-B556-DA8FD96EDA10}" srcOrd="1" destOrd="0" parTransId="{6BCDA3ED-DE6F-4DA6-A603-378F0EBC9B79}" sibTransId="{7A84238D-9E6B-4FFD-8CC7-A44756CDB377}"/>
    <dgm:cxn modelId="{243A2F5A-FAAB-4F91-8769-24D6A192512F}" type="presOf" srcId="{3430DA8A-3CD3-4B45-B556-DA8FD96EDA10}" destId="{2295566A-3A3D-41FA-B345-611B956038C7}" srcOrd="0" destOrd="0" presId="urn:microsoft.com/office/officeart/2016/7/layout/RepeatingBendingProcessNew"/>
    <dgm:cxn modelId="{0C9CE483-C6D1-423E-9A8A-1C44ECA8682C}" type="presOf" srcId="{67D41952-14C3-4300-AAE1-D7D1F09DF580}" destId="{802BFF40-B793-42E9-80E0-97EC0502A325}" srcOrd="0" destOrd="0" presId="urn:microsoft.com/office/officeart/2016/7/layout/RepeatingBendingProcessNew"/>
    <dgm:cxn modelId="{0F26BB8B-58F5-4878-BC8E-28E6A34F4C39}" type="presOf" srcId="{43D3BED2-9E4E-471B-9766-46484F0C506A}" destId="{52BA32F8-DBD3-45DC-BA7C-8B4B881CD479}" srcOrd="0" destOrd="0" presId="urn:microsoft.com/office/officeart/2016/7/layout/RepeatingBendingProcessNew"/>
    <dgm:cxn modelId="{4519E08B-B15C-4F9B-988C-D16F90D39DF0}" srcId="{0700721C-3F93-42EF-87A4-C81A39381445}" destId="{80C64ADD-E736-4ED4-82C3-97F5FE282029}" srcOrd="5" destOrd="0" parTransId="{65C83D56-402A-407C-B0D9-2811BE083CEF}" sibTransId="{4B758C3F-D507-4ABA-A7D8-6B8633F3F4E1}"/>
    <dgm:cxn modelId="{CA83C896-D623-4EE4-9F8D-0E568FE2C661}" type="presOf" srcId="{356B7EEC-476F-4396-9855-1032DC6F75F6}" destId="{A79C3F6C-4A4A-494F-AA02-41CC875009B1}" srcOrd="1" destOrd="0" presId="urn:microsoft.com/office/officeart/2016/7/layout/RepeatingBendingProcessNew"/>
    <dgm:cxn modelId="{C73D3F97-D332-4D6A-81B0-EA2DB9B98774}" type="presOf" srcId="{43D3BED2-9E4E-471B-9766-46484F0C506A}" destId="{41FF04CD-99D7-4CD2-9CF5-20E1AE57493D}" srcOrd="1" destOrd="0" presId="urn:microsoft.com/office/officeart/2016/7/layout/RepeatingBendingProcessNew"/>
    <dgm:cxn modelId="{FB8820A9-0E1F-49B7-9D85-E9DF2CEB0622}" type="presOf" srcId="{7A84238D-9E6B-4FFD-8CC7-A44756CDB377}" destId="{082A59CF-4CF4-4488-94D1-82F25A6F07A0}" srcOrd="1" destOrd="0" presId="urn:microsoft.com/office/officeart/2016/7/layout/RepeatingBendingProcessNew"/>
    <dgm:cxn modelId="{447F64AB-D520-446D-B666-F813688230DA}" type="presOf" srcId="{0700721C-3F93-42EF-87A4-C81A39381445}" destId="{12DDEA19-98FC-4F4F-9940-36492E1376D1}" srcOrd="0" destOrd="0" presId="urn:microsoft.com/office/officeart/2016/7/layout/RepeatingBendingProcessNew"/>
    <dgm:cxn modelId="{B9F16CCB-6436-4F4D-8812-A0F2BE55159C}" type="presOf" srcId="{AE888F14-C1A6-401B-8C61-AE7DF2FA1D23}" destId="{63CDBE16-BEB7-4582-9113-CB813F9BA150}" srcOrd="0" destOrd="0" presId="urn:microsoft.com/office/officeart/2016/7/layout/RepeatingBendingProcessNew"/>
    <dgm:cxn modelId="{EBF29BD1-5D18-42EF-874F-FA2C6A3EDC1B}" type="presOf" srcId="{80C64ADD-E736-4ED4-82C3-97F5FE282029}" destId="{AA86DC70-D4A2-4C6D-AA28-453E49FF5C05}" srcOrd="0" destOrd="0" presId="urn:microsoft.com/office/officeart/2016/7/layout/RepeatingBendingProcessNew"/>
    <dgm:cxn modelId="{988C57D6-3652-48B7-8355-7C5087A72C71}" srcId="{0700721C-3F93-42EF-87A4-C81A39381445}" destId="{8184CC6B-3BF3-4708-96E8-4E5DA940C97D}" srcOrd="3" destOrd="0" parTransId="{28383B84-361E-4340-9ACB-D4BE502071C7}" sibTransId="{67D41952-14C3-4300-AAE1-D7D1F09DF580}"/>
    <dgm:cxn modelId="{259771D9-8F9E-4EDD-B9F8-94BB602087BA}" type="presOf" srcId="{F113B555-7BCC-471D-9BB3-F2D544F0B291}" destId="{410BC841-8216-46F3-8C5A-4E0AD62E260B}" srcOrd="1" destOrd="0" presId="urn:microsoft.com/office/officeart/2016/7/layout/RepeatingBendingProcessNew"/>
    <dgm:cxn modelId="{6D3631E7-5157-4140-B17D-B1C98E4494E4}" srcId="{0700721C-3F93-42EF-87A4-C81A39381445}" destId="{3F6B9E3B-5CA2-44BE-90FC-2D1EA26CAB70}" srcOrd="2" destOrd="0" parTransId="{595D82A8-A62A-4144-A44E-3943A607F46B}" sibTransId="{43D3BED2-9E4E-471B-9766-46484F0C506A}"/>
    <dgm:cxn modelId="{2DD5C1EB-2410-4FB1-AED6-12CAF8429E17}" type="presOf" srcId="{356B7EEC-476F-4396-9855-1032DC6F75F6}" destId="{1FA01E33-1274-46CF-ADFB-B84556D8D795}" srcOrd="0" destOrd="0" presId="urn:microsoft.com/office/officeart/2016/7/layout/RepeatingBendingProcessNew"/>
    <dgm:cxn modelId="{ABEC2C27-5021-4D82-8C09-51DD34513872}" type="presParOf" srcId="{12DDEA19-98FC-4F4F-9940-36492E1376D1}" destId="{69C7B1FC-D0CE-4EBA-99BB-E0C74896A0F0}" srcOrd="0" destOrd="0" presId="urn:microsoft.com/office/officeart/2016/7/layout/RepeatingBendingProcessNew"/>
    <dgm:cxn modelId="{4FE198C4-827E-4CB3-8B2A-BCCB332F7EF4}" type="presParOf" srcId="{12DDEA19-98FC-4F4F-9940-36492E1376D1}" destId="{991FABFB-AB61-4914-BF53-8A0E2775AEFC}" srcOrd="1" destOrd="0" presId="urn:microsoft.com/office/officeart/2016/7/layout/RepeatingBendingProcessNew"/>
    <dgm:cxn modelId="{3A83C38F-4FD2-44D2-AA34-CB711F85FFEB}" type="presParOf" srcId="{991FABFB-AB61-4914-BF53-8A0E2775AEFC}" destId="{410BC841-8216-46F3-8C5A-4E0AD62E260B}" srcOrd="0" destOrd="0" presId="urn:microsoft.com/office/officeart/2016/7/layout/RepeatingBendingProcessNew"/>
    <dgm:cxn modelId="{3971B858-B4C1-4ACB-AA39-732285864CE8}" type="presParOf" srcId="{12DDEA19-98FC-4F4F-9940-36492E1376D1}" destId="{2295566A-3A3D-41FA-B345-611B956038C7}" srcOrd="2" destOrd="0" presId="urn:microsoft.com/office/officeart/2016/7/layout/RepeatingBendingProcessNew"/>
    <dgm:cxn modelId="{B8325BFE-4CAB-4A54-8559-276AA9F1D3AF}" type="presParOf" srcId="{12DDEA19-98FC-4F4F-9940-36492E1376D1}" destId="{A225FD35-0059-45AC-AAFD-59EA8FACA3D8}" srcOrd="3" destOrd="0" presId="urn:microsoft.com/office/officeart/2016/7/layout/RepeatingBendingProcessNew"/>
    <dgm:cxn modelId="{EC37E38B-D188-4182-A36A-9D8CEB7495E5}" type="presParOf" srcId="{A225FD35-0059-45AC-AAFD-59EA8FACA3D8}" destId="{082A59CF-4CF4-4488-94D1-82F25A6F07A0}" srcOrd="0" destOrd="0" presId="urn:microsoft.com/office/officeart/2016/7/layout/RepeatingBendingProcessNew"/>
    <dgm:cxn modelId="{F83B3AB0-D9DC-4EC0-B444-0F6E3AD04EF4}" type="presParOf" srcId="{12DDEA19-98FC-4F4F-9940-36492E1376D1}" destId="{AB6D4302-1191-4490-97F4-CCCC80DA459E}" srcOrd="4" destOrd="0" presId="urn:microsoft.com/office/officeart/2016/7/layout/RepeatingBendingProcessNew"/>
    <dgm:cxn modelId="{B8F059DD-AE40-4287-8A07-F1934B83417C}" type="presParOf" srcId="{12DDEA19-98FC-4F4F-9940-36492E1376D1}" destId="{52BA32F8-DBD3-45DC-BA7C-8B4B881CD479}" srcOrd="5" destOrd="0" presId="urn:microsoft.com/office/officeart/2016/7/layout/RepeatingBendingProcessNew"/>
    <dgm:cxn modelId="{EB2A7E8C-D13F-4AAA-B977-68C0DB3355C9}" type="presParOf" srcId="{52BA32F8-DBD3-45DC-BA7C-8B4B881CD479}" destId="{41FF04CD-99D7-4CD2-9CF5-20E1AE57493D}" srcOrd="0" destOrd="0" presId="urn:microsoft.com/office/officeart/2016/7/layout/RepeatingBendingProcessNew"/>
    <dgm:cxn modelId="{17503A2F-E530-4AD3-8F17-53F3A8B299B2}" type="presParOf" srcId="{12DDEA19-98FC-4F4F-9940-36492E1376D1}" destId="{23FD7DB4-0104-49DB-AA27-8546B7D2D1F4}" srcOrd="6" destOrd="0" presId="urn:microsoft.com/office/officeart/2016/7/layout/RepeatingBendingProcessNew"/>
    <dgm:cxn modelId="{34D11F62-C218-4A48-AE77-547F39840630}" type="presParOf" srcId="{12DDEA19-98FC-4F4F-9940-36492E1376D1}" destId="{802BFF40-B793-42E9-80E0-97EC0502A325}" srcOrd="7" destOrd="0" presId="urn:microsoft.com/office/officeart/2016/7/layout/RepeatingBendingProcessNew"/>
    <dgm:cxn modelId="{01F26502-FF59-4772-9F66-B167B939DD44}" type="presParOf" srcId="{802BFF40-B793-42E9-80E0-97EC0502A325}" destId="{5CE61F4A-35DC-499D-84BA-2B1CFDD67030}" srcOrd="0" destOrd="0" presId="urn:microsoft.com/office/officeart/2016/7/layout/RepeatingBendingProcessNew"/>
    <dgm:cxn modelId="{524FD9C2-432D-4C9C-81CB-7DB2840AD34B}" type="presParOf" srcId="{12DDEA19-98FC-4F4F-9940-36492E1376D1}" destId="{63CDBE16-BEB7-4582-9113-CB813F9BA150}" srcOrd="8" destOrd="0" presId="urn:microsoft.com/office/officeart/2016/7/layout/RepeatingBendingProcessNew"/>
    <dgm:cxn modelId="{AB3CF8E5-0BC2-409D-9AA8-28E8D8EF9ACB}" type="presParOf" srcId="{12DDEA19-98FC-4F4F-9940-36492E1376D1}" destId="{1FA01E33-1274-46CF-ADFB-B84556D8D795}" srcOrd="9" destOrd="0" presId="urn:microsoft.com/office/officeart/2016/7/layout/RepeatingBendingProcessNew"/>
    <dgm:cxn modelId="{9870FFD8-E982-454F-8435-9A11DAA20981}" type="presParOf" srcId="{1FA01E33-1274-46CF-ADFB-B84556D8D795}" destId="{A79C3F6C-4A4A-494F-AA02-41CC875009B1}" srcOrd="0" destOrd="0" presId="urn:microsoft.com/office/officeart/2016/7/layout/RepeatingBendingProcessNew"/>
    <dgm:cxn modelId="{C8E23058-D43F-4DD1-A9CA-6F446F24ACDB}" type="presParOf" srcId="{12DDEA19-98FC-4F4F-9940-36492E1376D1}" destId="{AA86DC70-D4A2-4C6D-AA28-453E49FF5C05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1FABFB-AB61-4914-BF53-8A0E2775AEFC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69C7B1FC-D0CE-4EBA-99BB-E0C74896A0F0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Problem</a:t>
          </a:r>
          <a:endParaRPr lang="en-US" sz="1900" kern="1200"/>
        </a:p>
      </dsp:txBody>
      <dsp:txXfrm>
        <a:off x="8061" y="5979"/>
        <a:ext cx="3034531" cy="1820718"/>
      </dsp:txXfrm>
    </dsp:sp>
    <dsp:sp modelId="{A225FD35-0059-45AC-AAFD-59EA8FACA3D8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2295566A-3A3D-41FA-B345-611B956038C7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While building the car, engineers tweak the model all the time:</a:t>
          </a:r>
        </a:p>
      </dsp:txBody>
      <dsp:txXfrm>
        <a:off x="3740534" y="5979"/>
        <a:ext cx="3034531" cy="1820718"/>
      </dsp:txXfrm>
    </dsp:sp>
    <dsp:sp modelId="{52BA32F8-DBD3-45DC-BA7C-8B4B881CD479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AB6D4302-1191-4490-97F4-CCCC80DA459E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Changing layers</a:t>
          </a:r>
        </a:p>
      </dsp:txBody>
      <dsp:txXfrm>
        <a:off x="7473007" y="5979"/>
        <a:ext cx="3034531" cy="1820718"/>
      </dsp:txXfrm>
    </dsp:sp>
    <dsp:sp modelId="{802BFF40-B793-42E9-80E0-97EC0502A325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23FD7DB4-0104-49DB-AA27-8546B7D2D1F4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Adjusting learning rates</a:t>
          </a:r>
        </a:p>
      </dsp:txBody>
      <dsp:txXfrm>
        <a:off x="8061" y="2524640"/>
        <a:ext cx="3034531" cy="1820718"/>
      </dsp:txXfrm>
    </dsp:sp>
    <dsp:sp modelId="{1FA01E33-1274-46CF-ADFB-B84556D8D795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63CDBE16-BEB7-4582-9113-CB813F9BA150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Testing new architectures</a:t>
          </a:r>
        </a:p>
      </dsp:txBody>
      <dsp:txXfrm>
        <a:off x="3740534" y="2524640"/>
        <a:ext cx="3034531" cy="1820718"/>
      </dsp:txXfrm>
    </dsp:sp>
    <dsp:sp modelId="{AA86DC70-D4A2-4C6D-AA28-453E49FF5C05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If they check performance on the test set every time, the model </a:t>
          </a:r>
          <a:r>
            <a:rPr lang="en-US" sz="1900" b="1" kern="1200"/>
            <a:t>starts to “cheat”</a:t>
          </a:r>
          <a:r>
            <a:rPr lang="en-US" sz="1900" kern="1200"/>
            <a:t> → test results become unreliable.</a:t>
          </a:r>
        </a:p>
      </dsp:txBody>
      <dsp:txXfrm>
        <a:off x="7473007" y="2524640"/>
        <a:ext cx="3034531" cy="182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C2643-D8CD-44F5-A2F0-178E62965B6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35418-2394-493A-AE8B-DF37CC86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41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35418-2394-493A-AE8B-DF37CC86887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79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6C191-D493-C33F-EF7A-B5467A44A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9E92F-2168-00D9-06F0-D44FBA1C1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18AB2-5F22-A026-D716-51F71E196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867A-1775-45DB-AA63-7E93CB85D1E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D1ADF-E176-4F1C-748B-1ABA525E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A5EFC-B0F5-B919-B6A1-4CC88434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39E7-F829-465E-876A-76F02CF5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1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63BB2-8353-16A2-1F77-9C0D3A67B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7D40F-3E7A-1D78-5512-17136A488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C7385-3036-CF15-5051-E3D7D91B1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867A-1775-45DB-AA63-7E93CB85D1E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9C0E4-7BBF-DDAA-9C20-4E8FF959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AEF48-53EA-0097-7BE5-60754C92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39E7-F829-465E-876A-76F02CF5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3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28D6-D094-1717-D65B-01A4B78F0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14E74-49D9-773B-5AA4-1607F6EE1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A5985-572B-0545-89E6-4C81466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867A-1775-45DB-AA63-7E93CB85D1E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12B7D-3F31-588D-EE56-724747A02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89BD2-2D91-881E-4986-5D0621BD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39E7-F829-465E-876A-76F02CF5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2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6DF30-204C-92AA-B258-6A1EE4F87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0DD23-26E1-3BF7-14AF-356A62DBC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FCC62-90A8-8415-0080-BEE0491A0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5897E-4DEF-C2EC-3B00-9CD22C902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867A-1775-45DB-AA63-7E93CB85D1E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1C858-7A6E-691C-8756-044E5293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F71B9-650D-13A3-F73C-827207E0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39E7-F829-465E-876A-76F02CF5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8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B836-FA42-04EA-9913-AA3D0CDB8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ED8BE-0CD8-DBBE-CC24-12C97B910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413AA-1386-7E71-49C2-E2CA348DD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4CFD0-39B0-BD7B-0210-DA7A0E2B3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922834-F0F5-649C-12EA-AD39711365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41ABEC-D17B-8A9F-0E62-DBBE61A0B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867A-1775-45DB-AA63-7E93CB85D1E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30E56-4E64-D351-92D6-E3C10790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4B5ACD-7412-A7F0-1D70-15E33C2B6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39E7-F829-465E-876A-76F02CF5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3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FC3-52AD-AC8D-02A3-4BD20604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9F0DD-CCD2-29F5-3330-4DDE839BF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867A-1775-45DB-AA63-7E93CB85D1E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A3F444-4734-BD48-30DA-3F843879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558CA-E48C-1487-00E4-92A98A7BC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39E7-F829-465E-876A-76F02CF5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7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186A2-ED35-C5D7-654C-70740AE53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867A-1775-45DB-AA63-7E93CB85D1E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178C2-C631-2C59-3A02-04FECD1D8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E6B6-CAE0-FEBD-C903-F625EC98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39E7-F829-465E-876A-76F02CF5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17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46B7-30B3-47CC-360F-2AA96FD1F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7C47-2AF6-ED8D-509A-B681D7711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1E4D6-6000-A5BA-2A9A-44EF61989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037E0-F090-46B8-1B34-A0652847A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867A-1775-45DB-AA63-7E93CB85D1E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61F0A-3D96-22D8-FD61-A1182B0B2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72972-BE06-A7A6-D907-DAD25762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39E7-F829-465E-876A-76F02CF5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37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024B-1F04-7552-345B-4B3685BBD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AAE616-4793-784B-DE45-5DEF19F60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D387D-8F68-40E0-E0B3-1A3220020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D59E9-8903-9F5C-A320-639C2097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867A-1775-45DB-AA63-7E93CB85D1E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B606C-98F5-8C9B-2268-8F5A7A01C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195E0-167C-6A44-7009-A893B894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39E7-F829-465E-876A-76F02CF5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7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D9AB0-D0C7-AC85-7962-ED950A567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E6675-0D0C-CA75-DA12-5EFB3944D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5C39F-3168-45C1-BD4E-E13B84C6D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867A-1775-45DB-AA63-7E93CB85D1E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023CD-A480-78BC-CB83-329A7D401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7D059-8004-D0E1-0EE2-4D993D61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39E7-F829-465E-876A-76F02CF5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8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C832ED-DC8D-92B8-081B-5C278620AF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1A757-8F4C-2F1C-D8F7-181628EED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F38B1-7A01-8FF5-8E5A-3C45DC93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867A-1775-45DB-AA63-7E93CB85D1E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DDE31-FF8A-CB7C-6AC1-BC62727D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3E9B1-DC1A-89AD-87A0-56BBAE839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39E7-F829-465E-876A-76F02CF5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33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6312F-E7FB-7B7F-378B-51E1A608B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3F657-54C3-8C3A-E4D1-929CE29A1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842BD-A9E6-A80E-EBF8-F42B81841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E867A-1775-45DB-AA63-7E93CB85D1E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7EC27-D9ED-BE22-5F6A-65869D4ED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2A28D-A10D-7A15-6771-5D48C054C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839E7-F829-465E-876A-76F02CF5C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23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2" name="Freeform: Shape 5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78E7CA-108C-2877-8D53-6365C77C5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6700"/>
              <a:t>Machine Learning Life Cycle &amp; Semester Project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08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9995F-01DB-DB21-79E9-6649238D4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600" b="1" dirty="0"/>
              <a:t>Why Use Machine Learning?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Why Machine Learning is Important in Education Sector 2025">
            <a:extLst>
              <a:ext uri="{FF2B5EF4-FFF2-40B4-BE49-F238E27FC236}">
                <a16:creationId xmlns:a16="http://schemas.microsoft.com/office/drawing/2014/main" id="{EA0947E0-F32B-5029-A820-934F2B4D61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836059"/>
            <a:ext cx="7214616" cy="515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345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EE6AD-D6CB-2EE4-5439-707A8B1DD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1.Beyond Rule-Based Systems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4D3C6AC-3479-78FC-39F9-E07A61559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8299" y="804672"/>
            <a:ext cx="6562725" cy="5230368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Traditional approaches (search algorithms, expert systems, simple agents) 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follow fixed rules</a:t>
            </a:r>
            <a:b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</a:br>
            <a:endParaRPr lang="en-US" altLang="en-US" sz="2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Limitations: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Hard to scale for complex problems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Cannot adapt to new situations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Struggle with noisy or incomplete data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70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D0023-5DB0-D3E1-FA82-9F7D6EFE8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2. Machine Learning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9F5EF-2626-51E5-0757-04976F136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“ML allows agents to </a:t>
            </a: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learn from experience</a:t>
            </a:r>
            <a:r>
              <a:rPr lang="en-US" alt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 rather than rely on predefined rules”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Example: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tx2"/>
                </a:solidFill>
                <a:latin typeface="Arial" panose="020B0604020202020204" pitchFamily="34" charset="0"/>
              </a:rPr>
              <a:t>Recommendation Systems</a:t>
            </a:r>
            <a:r>
              <a:rPr lang="en-US" altLang="en-US" sz="1600" dirty="0">
                <a:solidFill>
                  <a:schemeClr val="tx2"/>
                </a:solidFill>
                <a:latin typeface="Arial" panose="020B0604020202020204" pitchFamily="34" charset="0"/>
              </a:rPr>
              <a:t>: Netflix doesn’t use rules like “if user likes action, recommend all action movies” it </a:t>
            </a:r>
            <a:r>
              <a:rPr lang="en-US" altLang="en-US" sz="1600" b="1" dirty="0">
                <a:solidFill>
                  <a:schemeClr val="tx2"/>
                </a:solidFill>
                <a:latin typeface="Arial" panose="020B0604020202020204" pitchFamily="34" charset="0"/>
              </a:rPr>
              <a:t>learns preferences from user data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tx2"/>
                </a:solidFill>
                <a:latin typeface="Arial" panose="020B0604020202020204" pitchFamily="34" charset="0"/>
              </a:rPr>
              <a:t>Self-Driving Cars</a:t>
            </a:r>
            <a:r>
              <a:rPr lang="en-US" altLang="en-US" sz="1600" dirty="0">
                <a:solidFill>
                  <a:schemeClr val="tx2"/>
                </a:solidFill>
                <a:latin typeface="Arial" panose="020B0604020202020204" pitchFamily="34" charset="0"/>
              </a:rPr>
              <a:t>: Classical agents cannot handle all traffic scenarios ML trains cars to </a:t>
            </a:r>
            <a:r>
              <a:rPr lang="en-US" altLang="en-US" sz="1600" b="1" dirty="0">
                <a:solidFill>
                  <a:schemeClr val="tx2"/>
                </a:solidFill>
                <a:latin typeface="Arial" panose="020B0604020202020204" pitchFamily="34" charset="0"/>
              </a:rPr>
              <a:t>adapt to diverse and unseen situations</a:t>
            </a:r>
            <a:endParaRPr lang="en-US" altLang="en-US" sz="16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208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FFE7DE-BC62-56C9-721C-F5D6E6DA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3.ML Makes Agents Smarter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791BA-E059-DE65-3DFA-E55F81148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Traditional agents → fixed logic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ML-based agents → </a:t>
            </a:r>
            <a:r>
              <a:rPr lang="en-US" sz="1800" b="1" dirty="0">
                <a:solidFill>
                  <a:schemeClr val="tx2"/>
                </a:solidFill>
              </a:rPr>
              <a:t>improve over time</a:t>
            </a:r>
            <a:r>
              <a:rPr lang="en-US" sz="1800" dirty="0">
                <a:solidFill>
                  <a:schemeClr val="tx2"/>
                </a:solidFill>
              </a:rPr>
              <a:t>, </a:t>
            </a:r>
            <a:r>
              <a:rPr lang="en-US" sz="1800" b="1" dirty="0">
                <a:solidFill>
                  <a:schemeClr val="tx2"/>
                </a:solidFill>
              </a:rPr>
              <a:t>generalize</a:t>
            </a:r>
            <a:r>
              <a:rPr lang="en-US" sz="1800" dirty="0">
                <a:solidFill>
                  <a:schemeClr val="tx2"/>
                </a:solidFill>
              </a:rPr>
              <a:t>, and </a:t>
            </a:r>
            <a:r>
              <a:rPr lang="en-US" sz="1800" b="1" dirty="0">
                <a:solidFill>
                  <a:schemeClr val="tx2"/>
                </a:solidFill>
              </a:rPr>
              <a:t>handle uncertainty</a:t>
            </a: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Key Idea:</a:t>
            </a:r>
            <a:br>
              <a:rPr lang="en-US" sz="1800" dirty="0">
                <a:solidFill>
                  <a:schemeClr val="tx2"/>
                </a:solidFill>
              </a:rPr>
            </a:br>
            <a:r>
              <a:rPr lang="en-US" sz="1800" dirty="0">
                <a:solidFill>
                  <a:schemeClr val="tx2"/>
                </a:solidFill>
              </a:rPr>
              <a:t>Machine Learning enables creating </a:t>
            </a:r>
            <a:r>
              <a:rPr lang="en-US" sz="1800" b="1" dirty="0">
                <a:solidFill>
                  <a:schemeClr val="tx2"/>
                </a:solidFill>
              </a:rPr>
              <a:t>adaptive, intelligent systems</a:t>
            </a:r>
            <a:r>
              <a:rPr lang="en-US" sz="1800" dirty="0">
                <a:solidFill>
                  <a:schemeClr val="tx2"/>
                </a:solidFill>
              </a:rPr>
              <a:t> that traditional algorithms alone cannot handle efficiently.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647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EC0874-AB52-9FDC-5D2E-8429D23A4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What is Machine Learning?</a:t>
            </a:r>
            <a:br>
              <a:rPr lang="en-US" sz="3600" b="1" dirty="0">
                <a:solidFill>
                  <a:schemeClr val="tx2"/>
                </a:solidFill>
              </a:rPr>
            </a:br>
            <a:br>
              <a:rPr lang="en-US" sz="3600" b="1" dirty="0">
                <a:solidFill>
                  <a:schemeClr val="tx2"/>
                </a:solidFill>
              </a:rPr>
            </a:br>
            <a:r>
              <a:rPr lang="en-US" sz="2700" dirty="0">
                <a:solidFill>
                  <a:schemeClr val="tx2"/>
                </a:solidFill>
              </a:rPr>
              <a:t>A way for computers to </a:t>
            </a:r>
            <a:r>
              <a:rPr lang="en-US" sz="2700" b="1" dirty="0">
                <a:solidFill>
                  <a:schemeClr val="tx2"/>
                </a:solidFill>
              </a:rPr>
              <a:t>learn patterns from data</a:t>
            </a:r>
            <a:br>
              <a:rPr lang="en-US" sz="2700" dirty="0">
                <a:solidFill>
                  <a:schemeClr val="tx2"/>
                </a:solidFill>
              </a:rPr>
            </a:br>
            <a:r>
              <a:rPr lang="en-US" sz="2700" dirty="0">
                <a:solidFill>
                  <a:schemeClr val="tx2"/>
                </a:solidFill>
              </a:rPr>
              <a:t>Makes predictions or decisions </a:t>
            </a:r>
            <a:r>
              <a:rPr lang="en-US" sz="2700" b="1" dirty="0">
                <a:solidFill>
                  <a:schemeClr val="tx2"/>
                </a:solidFill>
              </a:rPr>
              <a:t>without being explicitly programmed</a:t>
            </a:r>
            <a:br>
              <a:rPr lang="en-US" sz="3600" b="1" dirty="0">
                <a:solidFill>
                  <a:schemeClr val="tx2"/>
                </a:solidFill>
              </a:rPr>
            </a:b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245DB-FE3C-6ADF-FAC5-7B6561821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855" y="508838"/>
            <a:ext cx="5887569" cy="596694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ML is Useful?</a:t>
            </a:r>
          </a:p>
          <a:p>
            <a:r>
              <a:rPr lang="en-US" sz="1800" dirty="0">
                <a:solidFill>
                  <a:schemeClr val="tx2"/>
                </a:solidFill>
              </a:rPr>
              <a:t>Helps solve </a:t>
            </a:r>
            <a:r>
              <a:rPr lang="en-US" sz="1800" b="1" dirty="0">
                <a:solidFill>
                  <a:schemeClr val="tx2"/>
                </a:solidFill>
              </a:rPr>
              <a:t>real-world problems</a:t>
            </a:r>
            <a:r>
              <a:rPr lang="en-US" sz="1800" dirty="0">
                <a:solidFill>
                  <a:schemeClr val="tx2"/>
                </a:solidFill>
              </a:rPr>
              <a:t> efficiently</a:t>
            </a:r>
          </a:p>
          <a:p>
            <a:r>
              <a:rPr lang="en-US" sz="1800" dirty="0">
                <a:solidFill>
                  <a:schemeClr val="tx2"/>
                </a:solidFill>
              </a:rPr>
              <a:t>Can uncover </a:t>
            </a:r>
            <a:r>
              <a:rPr lang="en-US" sz="1800" b="1" dirty="0">
                <a:solidFill>
                  <a:schemeClr val="tx2"/>
                </a:solidFill>
              </a:rPr>
              <a:t>hidden patterns</a:t>
            </a:r>
            <a:r>
              <a:rPr lang="en-US" sz="1800" dirty="0">
                <a:solidFill>
                  <a:schemeClr val="tx2"/>
                </a:solidFill>
              </a:rPr>
              <a:t> in large datasets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Powers applications like: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Predictive analytics (churn, sales forecasting)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Computer vision (self-driving cars, face recognition)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Natural language processing (chatbots, sentiment analysis)</a:t>
            </a:r>
          </a:p>
          <a:p>
            <a:pPr lvl="1"/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Our Project Workflow</a:t>
            </a:r>
          </a:p>
          <a:p>
            <a:r>
              <a:rPr lang="en-US" sz="1800" dirty="0">
                <a:solidFill>
                  <a:schemeClr val="tx2"/>
                </a:solidFill>
              </a:rPr>
              <a:t>Problem Understanding → Data Gathering</a:t>
            </a:r>
          </a:p>
          <a:p>
            <a:r>
              <a:rPr lang="en-US" sz="1800" dirty="0">
                <a:solidFill>
                  <a:schemeClr val="tx2"/>
                </a:solidFill>
              </a:rPr>
              <a:t>Data Understanding → Preprocessing</a:t>
            </a:r>
          </a:p>
          <a:p>
            <a:r>
              <a:rPr lang="en-US" sz="1800" dirty="0">
                <a:solidFill>
                  <a:schemeClr val="tx2"/>
                </a:solidFill>
              </a:rPr>
              <a:t>Feature Selection &amp; Engineering</a:t>
            </a:r>
          </a:p>
          <a:p>
            <a:r>
              <a:rPr lang="en-US" sz="1800" dirty="0">
                <a:solidFill>
                  <a:schemeClr val="tx2"/>
                </a:solidFill>
              </a:rPr>
              <a:t>Model Training → Validation → Testing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749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1A5EF-FFE3-DCCE-C93E-7BA7E2AEF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Use Machine Learning?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7B23EF-0855-143C-CF6E-55FD3D485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9329" y="1503768"/>
            <a:ext cx="9513341" cy="516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21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08C17-EE45-194A-DBFB-6AE83FFB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Data Understanding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66E97-2B6D-0637-836C-DECDB9B1A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057" y="1917936"/>
            <a:ext cx="4045572" cy="16844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/>
              <a:t>1. Explore the Dataset</a:t>
            </a:r>
          </a:p>
          <a:p>
            <a:r>
              <a:rPr lang="en-US" sz="1600" dirty="0"/>
              <a:t>Check </a:t>
            </a:r>
            <a:r>
              <a:rPr lang="en-US" sz="1600" b="1" dirty="0"/>
              <a:t>size, dimensions, types of features</a:t>
            </a:r>
            <a:endParaRPr lang="en-US" sz="1600" dirty="0"/>
          </a:p>
          <a:p>
            <a:r>
              <a:rPr lang="en-US" sz="1600" dirty="0"/>
              <a:t>Understand </a:t>
            </a:r>
            <a:r>
              <a:rPr lang="en-US" sz="1600" b="1" dirty="0"/>
              <a:t>what each column represents</a:t>
            </a:r>
            <a:endParaRPr lang="en-US" sz="1600" dirty="0"/>
          </a:p>
          <a:p>
            <a:r>
              <a:rPr lang="en-US" sz="1600" dirty="0"/>
              <a:t>Identify </a:t>
            </a:r>
            <a:r>
              <a:rPr lang="en-US" sz="1600" b="1" dirty="0"/>
              <a:t>target variable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4735BE-5F66-E768-6C1D-EFF80178A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6969" y="1917936"/>
            <a:ext cx="4356857" cy="15579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/>
              <a:t>2. Summary Statistics</a:t>
            </a:r>
          </a:p>
          <a:p>
            <a:r>
              <a:rPr lang="en-US" sz="1600" b="1" dirty="0"/>
              <a:t>Mean, median, standard deviation</a:t>
            </a:r>
            <a:r>
              <a:rPr lang="en-US" sz="1600" dirty="0"/>
              <a:t> for numerical features</a:t>
            </a:r>
          </a:p>
          <a:p>
            <a:r>
              <a:rPr lang="en-US" sz="1600" b="1" dirty="0"/>
              <a:t>Counts and frequencies</a:t>
            </a:r>
            <a:r>
              <a:rPr lang="en-US" sz="1600" dirty="0"/>
              <a:t> for categorical features</a:t>
            </a:r>
          </a:p>
          <a:p>
            <a:r>
              <a:rPr lang="en-US" sz="1600" dirty="0"/>
              <a:t>Detect </a:t>
            </a:r>
            <a:r>
              <a:rPr lang="en-US" sz="1600" b="1" dirty="0"/>
              <a:t>obvious anomalies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789593-FBBE-A703-C944-BF429151377E}"/>
              </a:ext>
            </a:extLst>
          </p:cNvPr>
          <p:cNvSpPr txBox="1">
            <a:spLocks/>
          </p:cNvSpPr>
          <p:nvPr/>
        </p:nvSpPr>
        <p:spPr>
          <a:xfrm>
            <a:off x="838200" y="3779115"/>
            <a:ext cx="4045572" cy="2169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/>
              <a:t>3. Data Visualization</a:t>
            </a:r>
          </a:p>
          <a:p>
            <a:r>
              <a:rPr lang="en-US" sz="1500" b="1" dirty="0"/>
              <a:t>Histograms</a:t>
            </a:r>
            <a:r>
              <a:rPr lang="en-US" sz="1500" dirty="0"/>
              <a:t> → see distribution of features</a:t>
            </a:r>
          </a:p>
          <a:p>
            <a:r>
              <a:rPr lang="en-US" sz="1500" b="1" dirty="0"/>
              <a:t>Boxplots</a:t>
            </a:r>
            <a:r>
              <a:rPr lang="en-US" sz="1500" dirty="0"/>
              <a:t> → detect outliers</a:t>
            </a:r>
          </a:p>
          <a:p>
            <a:r>
              <a:rPr lang="en-US" sz="1500" b="1" dirty="0"/>
              <a:t>Scatterplots / </a:t>
            </a:r>
            <a:r>
              <a:rPr lang="en-US" sz="1500" b="1" dirty="0" err="1"/>
              <a:t>Pairplots</a:t>
            </a:r>
            <a:r>
              <a:rPr lang="en-US" sz="1500" dirty="0"/>
              <a:t> → relationships between features</a:t>
            </a:r>
          </a:p>
          <a:p>
            <a:r>
              <a:rPr lang="en-US" sz="1500" b="1" dirty="0"/>
              <a:t>Correlation heatmaps</a:t>
            </a:r>
            <a:r>
              <a:rPr lang="en-US" sz="1500" dirty="0"/>
              <a:t> → which features are related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D97AA44-2B0A-5CC9-8316-A93813463B30}"/>
              </a:ext>
            </a:extLst>
          </p:cNvPr>
          <p:cNvSpPr txBox="1">
            <a:spLocks/>
          </p:cNvSpPr>
          <p:nvPr/>
        </p:nvSpPr>
        <p:spPr>
          <a:xfrm>
            <a:off x="6352728" y="3779115"/>
            <a:ext cx="3185565" cy="2011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4.Identify Data Issues</a:t>
            </a:r>
          </a:p>
          <a:p>
            <a:r>
              <a:rPr lang="en-US" sz="1600" dirty="0"/>
              <a:t>Missing values</a:t>
            </a:r>
          </a:p>
          <a:p>
            <a:r>
              <a:rPr lang="en-US" sz="1600" dirty="0"/>
              <a:t>Duplicate records</a:t>
            </a:r>
          </a:p>
          <a:p>
            <a:r>
              <a:rPr lang="en-US" sz="1600" dirty="0"/>
              <a:t>Skewed or imbalanced distributions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994275-12D0-8DF5-8D1E-55697F84C79D}"/>
              </a:ext>
            </a:extLst>
          </p:cNvPr>
          <p:cNvCxnSpPr/>
          <p:nvPr/>
        </p:nvCxnSpPr>
        <p:spPr>
          <a:xfrm>
            <a:off x="963038" y="3652736"/>
            <a:ext cx="93482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224017-E23E-0206-E8DF-1FF1AD4AE788}"/>
              </a:ext>
            </a:extLst>
          </p:cNvPr>
          <p:cNvCxnSpPr/>
          <p:nvPr/>
        </p:nvCxnSpPr>
        <p:spPr>
          <a:xfrm>
            <a:off x="5637178" y="1993940"/>
            <a:ext cx="0" cy="35702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944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D7D8C-DB33-83FF-CBBD-A73E22C5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98D4E6-A2CB-9ABC-162F-8AA4721E0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67E17-79B4-D35C-9FFF-DA24A0D5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Data Preprocessing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201F4-CC4F-0729-6C3B-F99ABF104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057" y="2031501"/>
            <a:ext cx="4045572" cy="1684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1. Handling Missing Values</a:t>
            </a:r>
          </a:p>
          <a:p>
            <a:r>
              <a:rPr lang="en-US" sz="1600" dirty="0"/>
              <a:t>Remove or fill missing values (mean, median, mode, or prediction-based)</a:t>
            </a:r>
          </a:p>
          <a:p>
            <a:r>
              <a:rPr lang="en-US" sz="1600" dirty="0"/>
              <a:t>Ensures </a:t>
            </a:r>
            <a:r>
              <a:rPr lang="en-US" sz="1600" b="1" dirty="0"/>
              <a:t>complete dataset</a:t>
            </a:r>
            <a:r>
              <a:rPr lang="en-US" sz="1600" dirty="0"/>
              <a:t> for modeling</a:t>
            </a:r>
          </a:p>
          <a:p>
            <a:endParaRPr lang="en-US" sz="1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3C9D99-28F3-6847-5198-8B72F939B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571" y="2031501"/>
            <a:ext cx="4356857" cy="15579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2. Encoding Categorical Variables</a:t>
            </a:r>
          </a:p>
          <a:p>
            <a:r>
              <a:rPr lang="en-US" sz="1600" dirty="0"/>
              <a:t>Convert categories into numbers:</a:t>
            </a:r>
          </a:p>
          <a:p>
            <a:pPr lvl="1"/>
            <a:r>
              <a:rPr lang="en-US" sz="1600" b="1" dirty="0"/>
              <a:t>Label Encoding</a:t>
            </a:r>
            <a:r>
              <a:rPr lang="en-US" sz="1600" dirty="0"/>
              <a:t> → for ordinal data</a:t>
            </a:r>
          </a:p>
          <a:p>
            <a:pPr lvl="1"/>
            <a:r>
              <a:rPr lang="en-US" sz="1600" b="1" dirty="0"/>
              <a:t>One-Hot Encoding</a:t>
            </a:r>
            <a:r>
              <a:rPr lang="en-US" sz="1600" dirty="0"/>
              <a:t> → for nominal data</a:t>
            </a:r>
          </a:p>
          <a:p>
            <a:endParaRPr lang="en-US" sz="1600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BBE0CA0-7D63-8E79-6670-BB3AC1FE0045}"/>
              </a:ext>
            </a:extLst>
          </p:cNvPr>
          <p:cNvSpPr txBox="1">
            <a:spLocks/>
          </p:cNvSpPr>
          <p:nvPr/>
        </p:nvSpPr>
        <p:spPr>
          <a:xfrm>
            <a:off x="838200" y="3779115"/>
            <a:ext cx="4045572" cy="2169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/>
              <a:t>3. Scaling / Normalization</a:t>
            </a:r>
          </a:p>
          <a:p>
            <a:r>
              <a:rPr lang="en-US" sz="1500" dirty="0"/>
              <a:t>Standardize feature ranges to help algorithms converge faster:</a:t>
            </a:r>
          </a:p>
          <a:p>
            <a:pPr lvl="1"/>
            <a:r>
              <a:rPr lang="en-US" sz="1500" b="1" dirty="0" err="1"/>
              <a:t>StandardScaler</a:t>
            </a:r>
            <a:r>
              <a:rPr lang="en-US" sz="1500" b="1" dirty="0"/>
              <a:t> (Z-score)</a:t>
            </a:r>
            <a:endParaRPr lang="en-US" sz="1500" dirty="0"/>
          </a:p>
          <a:p>
            <a:pPr lvl="1"/>
            <a:r>
              <a:rPr lang="en-US" sz="1500" b="1" dirty="0"/>
              <a:t>Min-Max Scaling</a:t>
            </a:r>
          </a:p>
          <a:p>
            <a:pPr lvl="1"/>
            <a:r>
              <a:rPr lang="en-US" sz="1500" b="1" dirty="0"/>
              <a:t>IQR method </a:t>
            </a:r>
            <a:endParaRPr lang="en-US" sz="15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530D33F-116A-BAA2-B3F0-7646229D827D}"/>
              </a:ext>
            </a:extLst>
          </p:cNvPr>
          <p:cNvSpPr txBox="1">
            <a:spLocks/>
          </p:cNvSpPr>
          <p:nvPr/>
        </p:nvSpPr>
        <p:spPr>
          <a:xfrm>
            <a:off x="6352728" y="3779115"/>
            <a:ext cx="3185565" cy="2011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4. Removing Duplicates &amp; Outliers</a:t>
            </a:r>
          </a:p>
          <a:p>
            <a:r>
              <a:rPr lang="en-US" sz="1600" dirty="0"/>
              <a:t>Drop duplicates to avoid biased learning</a:t>
            </a:r>
          </a:p>
          <a:p>
            <a:r>
              <a:rPr lang="en-US" sz="1600" dirty="0"/>
              <a:t>Handle outliers that can skew the model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FB3E1D-BA31-DC36-E2A0-23EEC07CC47C}"/>
              </a:ext>
            </a:extLst>
          </p:cNvPr>
          <p:cNvCxnSpPr/>
          <p:nvPr/>
        </p:nvCxnSpPr>
        <p:spPr>
          <a:xfrm>
            <a:off x="963038" y="3652736"/>
            <a:ext cx="93482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5AE56E-28DE-89C8-D8D2-483A6517AF08}"/>
              </a:ext>
            </a:extLst>
          </p:cNvPr>
          <p:cNvCxnSpPr/>
          <p:nvPr/>
        </p:nvCxnSpPr>
        <p:spPr>
          <a:xfrm>
            <a:off x="5637178" y="1993940"/>
            <a:ext cx="0" cy="35702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264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AF5F4-B1DA-72D4-1869-8779F18C1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Feature Extraction/Engineering &amp;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51190-5DD5-97E2-C870-3A5419E1E2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Feature Extraction</a:t>
            </a:r>
          </a:p>
          <a:p>
            <a:pPr marL="0" indent="0">
              <a:buNone/>
            </a:pPr>
            <a:r>
              <a:rPr lang="en-US" sz="2000" dirty="0"/>
              <a:t>Create new features from raw data to </a:t>
            </a:r>
            <a:r>
              <a:rPr lang="en-US" sz="2000" b="1" dirty="0"/>
              <a:t>better represent the problem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Techniques:</a:t>
            </a:r>
          </a:p>
          <a:p>
            <a:pPr lvl="1"/>
            <a:r>
              <a:rPr lang="en-US" sz="2000" dirty="0"/>
              <a:t>Combining existing features (e.g., </a:t>
            </a:r>
            <a:r>
              <a:rPr lang="en-US" sz="2000" dirty="0" err="1"/>
              <a:t>total_purchase</a:t>
            </a:r>
            <a:r>
              <a:rPr lang="en-US" sz="2000" dirty="0"/>
              <a:t> = items × price)</a:t>
            </a:r>
          </a:p>
          <a:p>
            <a:pPr lvl="1"/>
            <a:r>
              <a:rPr lang="en-US" sz="2000" dirty="0"/>
              <a:t>Transformations (log, polynomial features)</a:t>
            </a:r>
          </a:p>
          <a:p>
            <a:pPr lvl="1"/>
            <a:r>
              <a:rPr lang="en-US" sz="2000" dirty="0"/>
              <a:t>Dimensionality reduction: </a:t>
            </a:r>
            <a:r>
              <a:rPr lang="en-US" sz="2000" b="1" dirty="0"/>
              <a:t>PCA</a:t>
            </a:r>
            <a:r>
              <a:rPr lang="en-US" sz="2000" dirty="0"/>
              <a:t> to capture main variance directions</a:t>
            </a:r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2ACF2-7348-2958-0122-818D56E2E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Feature Selection</a:t>
            </a:r>
          </a:p>
          <a:p>
            <a:pPr marL="0" indent="0">
              <a:buNone/>
            </a:pPr>
            <a:r>
              <a:rPr lang="en-US" sz="2000" dirty="0"/>
              <a:t>Choose the most important features to </a:t>
            </a:r>
            <a:r>
              <a:rPr lang="en-US" sz="2000" b="1" dirty="0"/>
              <a:t>reduce complexity and improve performance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Techniques:</a:t>
            </a:r>
          </a:p>
          <a:p>
            <a:pPr lvl="1"/>
            <a:r>
              <a:rPr lang="en-US" sz="2000" b="1" dirty="0"/>
              <a:t>Filter methods</a:t>
            </a:r>
            <a:r>
              <a:rPr lang="en-US" sz="2000" dirty="0"/>
              <a:t>: </a:t>
            </a:r>
            <a:r>
              <a:rPr lang="en-US" sz="2000" dirty="0" err="1"/>
              <a:t>f_classif</a:t>
            </a:r>
            <a:r>
              <a:rPr lang="en-US" sz="2000" dirty="0"/>
              <a:t>, correlation</a:t>
            </a:r>
          </a:p>
          <a:p>
            <a:pPr lvl="1"/>
            <a:r>
              <a:rPr lang="en-US" sz="2000" b="1" dirty="0"/>
              <a:t>Wrapper methods</a:t>
            </a:r>
            <a:r>
              <a:rPr lang="en-US" sz="2000" dirty="0"/>
              <a:t>: recursive feature elimination</a:t>
            </a:r>
          </a:p>
          <a:p>
            <a:pPr lvl="1"/>
            <a:r>
              <a:rPr lang="en-US" sz="2000" b="1" dirty="0"/>
              <a:t>Embedded methods</a:t>
            </a:r>
            <a:r>
              <a:rPr lang="en-US" sz="2000" dirty="0"/>
              <a:t>: Random Forest feature importance</a:t>
            </a:r>
          </a:p>
          <a:p>
            <a:endParaRPr lang="en-US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BE5A41-2117-3B2E-3D4B-951A0BA0F6FF}"/>
              </a:ext>
            </a:extLst>
          </p:cNvPr>
          <p:cNvCxnSpPr/>
          <p:nvPr/>
        </p:nvCxnSpPr>
        <p:spPr>
          <a:xfrm>
            <a:off x="5935980" y="1798077"/>
            <a:ext cx="0" cy="4360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457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Train Test Split: What it Means and How to Use It | Built In">
            <a:extLst>
              <a:ext uri="{FF2B5EF4-FFF2-40B4-BE49-F238E27FC236}">
                <a16:creationId xmlns:a16="http://schemas.microsoft.com/office/drawing/2014/main" id="{661CAEAF-0808-E7A8-DA0C-7BCE175A94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534244"/>
            <a:ext cx="10905066" cy="3789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9269A-4092-D14A-E30E-5322537DD1AD}"/>
              </a:ext>
            </a:extLst>
          </p:cNvPr>
          <p:cNvSpPr txBox="1"/>
          <p:nvPr/>
        </p:nvSpPr>
        <p:spPr>
          <a:xfrm>
            <a:off x="3963284" y="584829"/>
            <a:ext cx="39333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Test-Train Split</a:t>
            </a:r>
          </a:p>
        </p:txBody>
      </p:sp>
    </p:spTree>
    <p:extLst>
      <p:ext uri="{BB962C8B-B14F-4D97-AF65-F5344CB8AC3E}">
        <p14:creationId xmlns:p14="http://schemas.microsoft.com/office/powerpoint/2010/main" val="4220968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A0517E-F158-5B02-47B0-3655FE9DD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Train &amp; Test: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9532E-650C-261B-51FA-C3EC819C0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371475"/>
            <a:ext cx="5306084" cy="5661025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Think of building a self-driving car system.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Train Set (Teaching the Car)</a:t>
            </a:r>
          </a:p>
          <a:p>
            <a:r>
              <a:rPr lang="en-US" sz="1500" dirty="0">
                <a:solidFill>
                  <a:schemeClr val="tx2"/>
                </a:solidFill>
              </a:rPr>
              <a:t>Feed the model tons of images/videos: roads, pedestrians, traffic signs.</a:t>
            </a:r>
          </a:p>
          <a:p>
            <a:r>
              <a:rPr lang="en-US" sz="1500" dirty="0">
                <a:solidFill>
                  <a:schemeClr val="tx2"/>
                </a:solidFill>
              </a:rPr>
              <a:t>The model learns patterns, like “this is a road,” “this is a pedestrian,” etc.</a:t>
            </a:r>
          </a:p>
          <a:p>
            <a:r>
              <a:rPr lang="en-US" sz="1500" dirty="0">
                <a:solidFill>
                  <a:schemeClr val="tx2"/>
                </a:solidFill>
              </a:rPr>
              <a:t>Basically, this is </a:t>
            </a:r>
            <a:r>
              <a:rPr lang="en-US" sz="1500" b="1" dirty="0">
                <a:solidFill>
                  <a:schemeClr val="tx2"/>
                </a:solidFill>
              </a:rPr>
              <a:t>where it learns how the world works</a:t>
            </a:r>
            <a:r>
              <a:rPr lang="en-US" sz="1500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 Set (Safety Check Before Release)</a:t>
            </a:r>
          </a:p>
          <a:p>
            <a:r>
              <a:rPr lang="en-US" sz="1500" dirty="0">
                <a:solidFill>
                  <a:schemeClr val="tx2"/>
                </a:solidFill>
              </a:rPr>
              <a:t>New driving scenarios the model has </a:t>
            </a:r>
            <a:r>
              <a:rPr lang="en-US" sz="1500" b="1" dirty="0">
                <a:solidFill>
                  <a:schemeClr val="tx2"/>
                </a:solidFill>
              </a:rPr>
              <a:t>never seen</a:t>
            </a:r>
            <a:r>
              <a:rPr lang="en-US" sz="1500" dirty="0">
                <a:solidFill>
                  <a:schemeClr val="tx2"/>
                </a:solidFill>
              </a:rPr>
              <a:t>.</a:t>
            </a:r>
          </a:p>
          <a:p>
            <a:r>
              <a:rPr lang="en-US" sz="1500" dirty="0">
                <a:solidFill>
                  <a:schemeClr val="tx2"/>
                </a:solidFill>
              </a:rPr>
              <a:t>Measures: accuracy, reliability, ability to handle real-world situations.</a:t>
            </a:r>
          </a:p>
          <a:p>
            <a:r>
              <a:rPr lang="en-US" sz="1500" dirty="0">
                <a:solidFill>
                  <a:schemeClr val="tx2"/>
                </a:solidFill>
              </a:rPr>
              <a:t>Like taking the car onto </a:t>
            </a:r>
            <a:r>
              <a:rPr lang="en-US" sz="1500" b="1" dirty="0">
                <a:solidFill>
                  <a:schemeClr val="tx2"/>
                </a:solidFill>
              </a:rPr>
              <a:t>new roads</a:t>
            </a:r>
            <a:r>
              <a:rPr lang="en-US" sz="1500" dirty="0">
                <a:solidFill>
                  <a:schemeClr val="tx2"/>
                </a:solidFill>
              </a:rPr>
              <a:t> to see if it really works.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Split?</a:t>
            </a:r>
          </a:p>
          <a:p>
            <a:r>
              <a:rPr lang="en-US" sz="1500" dirty="0">
                <a:solidFill>
                  <a:schemeClr val="tx2"/>
                </a:solidFill>
              </a:rPr>
              <a:t>Prevents the model from only performing well on training roads.</a:t>
            </a:r>
          </a:p>
          <a:p>
            <a:r>
              <a:rPr lang="en-US" sz="1500" dirty="0">
                <a:solidFill>
                  <a:schemeClr val="tx2"/>
                </a:solidFill>
              </a:rPr>
              <a:t>Ensures it can handle new environments.</a:t>
            </a:r>
          </a:p>
          <a:p>
            <a:r>
              <a:rPr lang="en-US" sz="1500" dirty="0">
                <a:solidFill>
                  <a:schemeClr val="tx2"/>
                </a:solidFill>
              </a:rPr>
              <a:t>Gives a </a:t>
            </a:r>
            <a:r>
              <a:rPr lang="en-US" sz="1500" b="1" dirty="0">
                <a:solidFill>
                  <a:schemeClr val="tx2"/>
                </a:solidFill>
              </a:rPr>
              <a:t>trustworthy performance score</a:t>
            </a:r>
            <a:r>
              <a:rPr lang="en-US" sz="15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6577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8D9849-29EE-25FC-D133-BFED3A37F8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000527"/>
              </p:ext>
            </p:extLst>
          </p:nvPr>
        </p:nvGraphicFramePr>
        <p:xfrm>
          <a:off x="836675" y="125333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0546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Rectangle 103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2" name="Freeform: Shape 104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Freeform: Shape 104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50" name="Isosceles Triangle 104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rain-Test-Validation Split: A Critical Component of ML">
            <a:extLst>
              <a:ext uri="{FF2B5EF4-FFF2-40B4-BE49-F238E27FC236}">
                <a16:creationId xmlns:a16="http://schemas.microsoft.com/office/drawing/2014/main" id="{E37C832A-7B4A-BA6A-35CC-F0E91D780E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39"/>
          <a:stretch>
            <a:fillRect/>
          </a:stretch>
        </p:blipFill>
        <p:spPr bwMode="auto">
          <a:xfrm>
            <a:off x="1165067" y="1325880"/>
            <a:ext cx="9861865" cy="4888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2" name="Isosceles Triangle 105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E423C-474D-334C-E8BE-6B4AD744752A}"/>
              </a:ext>
            </a:extLst>
          </p:cNvPr>
          <p:cNvSpPr txBox="1"/>
          <p:nvPr/>
        </p:nvSpPr>
        <p:spPr>
          <a:xfrm>
            <a:off x="3081064" y="391035"/>
            <a:ext cx="66664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Test-Train-validation Split</a:t>
            </a:r>
          </a:p>
        </p:txBody>
      </p:sp>
    </p:spTree>
    <p:extLst>
      <p:ext uri="{BB962C8B-B14F-4D97-AF65-F5344CB8AC3E}">
        <p14:creationId xmlns:p14="http://schemas.microsoft.com/office/powerpoint/2010/main" val="1694372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E961A63-B6C6-BBDB-5999-70FF925B9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Validation Set — The Tuning Track</a:t>
            </a:r>
            <a:br>
              <a:rPr lang="en-US" sz="3600" b="1">
                <a:solidFill>
                  <a:schemeClr val="tx2"/>
                </a:solidFill>
              </a:rPr>
            </a:b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3DF72-BF11-6DF2-0432-ECEEEE32F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chemeClr val="tx2"/>
                </a:solidFill>
              </a:rPr>
              <a:t>A separate set of roads/scenarios used </a:t>
            </a:r>
            <a:r>
              <a:rPr lang="en-US" sz="1700" b="1">
                <a:solidFill>
                  <a:schemeClr val="tx2"/>
                </a:solidFill>
              </a:rPr>
              <a:t>during development</a:t>
            </a:r>
            <a:r>
              <a:rPr lang="en-US" sz="170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700">
                <a:solidFill>
                  <a:schemeClr val="tx2"/>
                </a:solidFill>
              </a:rPr>
              <a:t>Helps decide:</a:t>
            </a:r>
          </a:p>
          <a:p>
            <a:pPr lvl="1"/>
            <a:r>
              <a:rPr lang="en-US" sz="1700">
                <a:solidFill>
                  <a:schemeClr val="tx2"/>
                </a:solidFill>
              </a:rPr>
              <a:t>Best model version</a:t>
            </a:r>
          </a:p>
          <a:p>
            <a:pPr lvl="1"/>
            <a:r>
              <a:rPr lang="en-US" sz="1700">
                <a:solidFill>
                  <a:schemeClr val="tx2"/>
                </a:solidFill>
              </a:rPr>
              <a:t>When to stop training</a:t>
            </a:r>
          </a:p>
          <a:p>
            <a:pPr lvl="1"/>
            <a:r>
              <a:rPr lang="en-US" sz="1700">
                <a:solidFill>
                  <a:schemeClr val="tx2"/>
                </a:solidFill>
              </a:rPr>
              <a:t>Which tweaks actually improve performance</a:t>
            </a:r>
          </a:p>
          <a:p>
            <a:pPr marL="0" indent="0">
              <a:buNone/>
            </a:pPr>
            <a:r>
              <a:rPr lang="en-US" sz="1700">
                <a:solidFill>
                  <a:schemeClr val="tx2"/>
                </a:solidFill>
              </a:rPr>
              <a:t>Keeps the test set untouched for </a:t>
            </a:r>
            <a:r>
              <a:rPr lang="en-US" sz="1700" b="1">
                <a:solidFill>
                  <a:schemeClr val="tx2"/>
                </a:solidFill>
              </a:rPr>
              <a:t>final honest evaluation</a:t>
            </a:r>
            <a:r>
              <a:rPr lang="en-US" sz="170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</a:rPr>
              <a:t>Workflow</a:t>
            </a:r>
          </a:p>
          <a:p>
            <a:r>
              <a:rPr lang="en-US" sz="1700" b="1">
                <a:solidFill>
                  <a:schemeClr val="tx2"/>
                </a:solidFill>
              </a:rPr>
              <a:t>Train → Validate → Tune → Validate → Final Test</a:t>
            </a:r>
            <a:endParaRPr lang="en-US" sz="17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</a:rPr>
              <a:t>Why It Works</a:t>
            </a:r>
          </a:p>
          <a:p>
            <a:r>
              <a:rPr lang="en-US" sz="1700">
                <a:solidFill>
                  <a:schemeClr val="tx2"/>
                </a:solidFill>
              </a:rPr>
              <a:t>Test set remains unbiased.</a:t>
            </a:r>
          </a:p>
          <a:p>
            <a:r>
              <a:rPr lang="en-US" sz="1700">
                <a:solidFill>
                  <a:schemeClr val="tx2"/>
                </a:solidFill>
              </a:rPr>
              <a:t>Model generalizes better.</a:t>
            </a:r>
          </a:p>
          <a:p>
            <a:r>
              <a:rPr lang="en-US" sz="1700">
                <a:solidFill>
                  <a:schemeClr val="tx2"/>
                </a:solidFill>
              </a:rPr>
              <a:t>Engineers pick the </a:t>
            </a:r>
            <a:r>
              <a:rPr lang="en-US" sz="1700" b="1">
                <a:solidFill>
                  <a:schemeClr val="tx2"/>
                </a:solidFill>
              </a:rPr>
              <a:t>best model confidently</a:t>
            </a:r>
            <a:r>
              <a:rPr lang="en-US" sz="1700">
                <a:solidFill>
                  <a:schemeClr val="tx2"/>
                </a:solidFill>
              </a:rPr>
              <a:t> before release.</a:t>
            </a:r>
          </a:p>
          <a:p>
            <a:endParaRPr lang="en-US" sz="17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585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0DE7F-643E-3297-E27D-D7C62445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3DDDE2-BBFE-623D-55CB-6385524D4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3891" y="2057923"/>
            <a:ext cx="5144218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69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E180F-D99D-1BED-677F-E0AE4B070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6ACD4B-4F13-F234-7A51-32A40F816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24CAE-FF2E-5729-F0EB-B7A1E21E9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004975"/>
          </a:xfrm>
        </p:spPr>
        <p:txBody>
          <a:bodyPr>
            <a:normAutofit/>
          </a:bodyPr>
          <a:lstStyle/>
          <a:p>
            <a:r>
              <a:rPr lang="en-US" dirty="0"/>
              <a:t>Types of Machine Learning: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32297-C9FB-97A2-4D39-7C78A8DBB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057" y="1673352"/>
            <a:ext cx="4045572" cy="16844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1.Supervised Learning</a:t>
            </a:r>
          </a:p>
          <a:p>
            <a:r>
              <a:rPr lang="en-US" sz="1600" dirty="0"/>
              <a:t>Learn from </a:t>
            </a:r>
            <a:r>
              <a:rPr lang="en-US" sz="1600" b="1" dirty="0"/>
              <a:t>labeled data</a:t>
            </a:r>
            <a:r>
              <a:rPr lang="en-US" sz="1600" dirty="0"/>
              <a:t> (input → output)</a:t>
            </a:r>
          </a:p>
          <a:p>
            <a:r>
              <a:rPr lang="en-US" sz="1600" dirty="0"/>
              <a:t>Goal: Predict outcomes for new data</a:t>
            </a:r>
          </a:p>
          <a:p>
            <a:r>
              <a:rPr lang="en-US" sz="1600" dirty="0"/>
              <a:t>Examples:</a:t>
            </a:r>
          </a:p>
          <a:p>
            <a:pPr lvl="1"/>
            <a:r>
              <a:rPr lang="en-US" sz="1600" dirty="0"/>
              <a:t>Predicting house prices</a:t>
            </a:r>
          </a:p>
          <a:p>
            <a:pPr lvl="1"/>
            <a:r>
              <a:rPr lang="en-US" sz="1600" dirty="0"/>
              <a:t>Email spam detection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A6DBEF-7381-0E15-F5F3-A15CF6E17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4462" y="1557998"/>
            <a:ext cx="4356857" cy="15579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2. Unsupervised Learning</a:t>
            </a:r>
          </a:p>
          <a:p>
            <a:r>
              <a:rPr lang="en-US" sz="1600" dirty="0"/>
              <a:t>Learn from </a:t>
            </a:r>
            <a:r>
              <a:rPr lang="en-US" sz="1600" b="1" dirty="0"/>
              <a:t>unlabeled data</a:t>
            </a:r>
            <a:endParaRPr lang="en-US" sz="1600" dirty="0"/>
          </a:p>
          <a:p>
            <a:r>
              <a:rPr lang="en-US" sz="1600" dirty="0"/>
              <a:t>Goal: Find </a:t>
            </a:r>
            <a:r>
              <a:rPr lang="en-US" sz="1600" b="1" dirty="0"/>
              <a:t>patterns, clusters, or structures</a:t>
            </a:r>
            <a:r>
              <a:rPr lang="en-US" sz="1600" dirty="0"/>
              <a:t> in data</a:t>
            </a:r>
          </a:p>
          <a:p>
            <a:r>
              <a:rPr lang="en-US" sz="1600" dirty="0"/>
              <a:t>Examples:</a:t>
            </a:r>
          </a:p>
          <a:p>
            <a:pPr lvl="1"/>
            <a:r>
              <a:rPr lang="en-US" sz="1600" dirty="0"/>
              <a:t>Customer segmentation</a:t>
            </a:r>
          </a:p>
          <a:p>
            <a:pPr lvl="1"/>
            <a:r>
              <a:rPr lang="en-US" sz="1600" dirty="0"/>
              <a:t>Anomaly detection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85DD69D-C545-E221-4BC1-08C592B3FA04}"/>
              </a:ext>
            </a:extLst>
          </p:cNvPr>
          <p:cNvSpPr txBox="1">
            <a:spLocks/>
          </p:cNvSpPr>
          <p:nvPr/>
        </p:nvSpPr>
        <p:spPr>
          <a:xfrm>
            <a:off x="838200" y="4125336"/>
            <a:ext cx="4798978" cy="2169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3. Semi-Supervised Learning</a:t>
            </a:r>
          </a:p>
          <a:p>
            <a:r>
              <a:rPr lang="en-US" sz="1600" dirty="0"/>
              <a:t>Combination of labeled and unlabeled data</a:t>
            </a:r>
          </a:p>
          <a:p>
            <a:r>
              <a:rPr lang="en-US" sz="1600" dirty="0"/>
              <a:t>Useful when </a:t>
            </a:r>
            <a:r>
              <a:rPr lang="en-US" sz="1600" b="1" dirty="0"/>
              <a:t>labeled data is expensive</a:t>
            </a:r>
            <a:endParaRPr lang="en-US" sz="1600" dirty="0"/>
          </a:p>
          <a:p>
            <a:r>
              <a:rPr lang="en-US" sz="1600" dirty="0"/>
              <a:t>Example:</a:t>
            </a:r>
          </a:p>
          <a:p>
            <a:pPr lvl="1"/>
            <a:r>
              <a:rPr lang="en-US" sz="1600" dirty="0"/>
              <a:t>Medical diagnosis with a few labeled cases and many unlabeled patient records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068C111-ABF2-2C87-FAD8-519366261E6D}"/>
              </a:ext>
            </a:extLst>
          </p:cNvPr>
          <p:cNvSpPr txBox="1">
            <a:spLocks/>
          </p:cNvSpPr>
          <p:nvPr/>
        </p:nvSpPr>
        <p:spPr>
          <a:xfrm>
            <a:off x="6300895" y="4005584"/>
            <a:ext cx="4905822" cy="20119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4.Reinforcement Learning</a:t>
            </a:r>
          </a:p>
          <a:p>
            <a:r>
              <a:rPr lang="en-US" sz="1600" dirty="0"/>
              <a:t>Agent learns by </a:t>
            </a:r>
            <a:r>
              <a:rPr lang="en-US" sz="1600" b="1" dirty="0"/>
              <a:t>trial and error</a:t>
            </a:r>
            <a:r>
              <a:rPr lang="en-US" sz="1600" dirty="0"/>
              <a:t>, receiving rewards or penalties</a:t>
            </a:r>
          </a:p>
          <a:p>
            <a:r>
              <a:rPr lang="en-US" sz="1600" dirty="0"/>
              <a:t>Goal: Maximize cumulative reward in an environment</a:t>
            </a:r>
          </a:p>
          <a:p>
            <a:r>
              <a:rPr lang="en-US" sz="1600" dirty="0"/>
              <a:t>Examples:</a:t>
            </a:r>
          </a:p>
          <a:p>
            <a:pPr lvl="1"/>
            <a:r>
              <a:rPr lang="en-US" sz="1600" dirty="0"/>
              <a:t>Self-driving cars</a:t>
            </a:r>
          </a:p>
          <a:p>
            <a:pPr lvl="1"/>
            <a:r>
              <a:rPr lang="en-US" sz="1600" dirty="0"/>
              <a:t>Game-playing AI (Chess, Go)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BD939D-9D8E-9415-A68C-969C23D86FB3}"/>
              </a:ext>
            </a:extLst>
          </p:cNvPr>
          <p:cNvCxnSpPr/>
          <p:nvPr/>
        </p:nvCxnSpPr>
        <p:spPr>
          <a:xfrm>
            <a:off x="963037" y="3881336"/>
            <a:ext cx="93482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7BFADD-E4DE-E0C6-3C2F-18F9117DC1D8}"/>
              </a:ext>
            </a:extLst>
          </p:cNvPr>
          <p:cNvCxnSpPr/>
          <p:nvPr/>
        </p:nvCxnSpPr>
        <p:spPr>
          <a:xfrm>
            <a:off x="5637178" y="1993940"/>
            <a:ext cx="0" cy="35702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222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CE83E-F9F0-C31B-7266-83631B3A7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D3BDEBE-FC17-42D7-A9AD-981C343BD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F3E3CF-0FA5-22DE-C5F7-7B49C70A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000" b="1" dirty="0"/>
              <a:t>Types of Supervised Learning:</a:t>
            </a:r>
            <a:br>
              <a:rPr lang="en-US" sz="1600" dirty="0"/>
            </a:br>
            <a:r>
              <a:rPr lang="en-US" altLang="en-US" sz="1600" dirty="0">
                <a:latin typeface="Arial" panose="020B0604020202020204" pitchFamily="34" charset="0"/>
              </a:rPr>
              <a:t>Requires </a:t>
            </a:r>
            <a:r>
              <a:rPr lang="en-US" altLang="en-US" sz="1600" b="1" dirty="0">
                <a:latin typeface="Arial" panose="020B0604020202020204" pitchFamily="34" charset="0"/>
              </a:rPr>
              <a:t>labeled data</a:t>
            </a:r>
            <a:r>
              <a:rPr lang="en-US" altLang="en-US" sz="1600" dirty="0">
                <a:latin typeface="Arial" panose="020B0604020202020204" pitchFamily="34" charset="0"/>
              </a:rPr>
              <a:t> (input → known output) Model </a:t>
            </a:r>
            <a:r>
              <a:rPr lang="en-US" altLang="en-US" sz="1600" b="1" dirty="0">
                <a:latin typeface="Arial" panose="020B0604020202020204" pitchFamily="34" charset="0"/>
              </a:rPr>
              <a:t>learns the mapping</a:t>
            </a:r>
            <a:r>
              <a:rPr lang="en-US" altLang="en-US" sz="1600" dirty="0">
                <a:latin typeface="Arial" panose="020B0604020202020204" pitchFamily="34" charset="0"/>
              </a:rPr>
              <a:t> from features to label</a:t>
            </a:r>
            <a:br>
              <a:rPr lang="en-US" altLang="en-US" sz="1600" dirty="0">
                <a:latin typeface="Arial" panose="020B0604020202020204" pitchFamily="34" charset="0"/>
              </a:rPr>
            </a:br>
            <a:r>
              <a:rPr lang="en-US" sz="1600" dirty="0"/>
              <a:t>Supervised learning is all about </a:t>
            </a:r>
            <a:r>
              <a:rPr lang="en-US" sz="1600" b="1" dirty="0"/>
              <a:t>predicting known outcomes</a:t>
            </a:r>
            <a:r>
              <a:rPr lang="en-US" sz="1600" dirty="0"/>
              <a:t> using historical data.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16204E6-0CBD-A7CF-BCFE-81BE90DD52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Regression</a:t>
            </a:r>
          </a:p>
          <a:p>
            <a:pPr marL="0" indent="0">
              <a:buNone/>
            </a:pPr>
            <a:r>
              <a:rPr lang="en-US" sz="2400" dirty="0"/>
              <a:t>Predict </a:t>
            </a:r>
            <a:r>
              <a:rPr lang="en-US" sz="2400" b="1" dirty="0"/>
              <a:t>continuous numerical values</a:t>
            </a:r>
          </a:p>
          <a:p>
            <a:pPr marL="0" indent="0"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Evaluation</a:t>
            </a:r>
            <a:r>
              <a:rPr lang="en-US" altLang="en-US" sz="2400" dirty="0">
                <a:latin typeface="Arial" panose="020B0604020202020204" pitchFamily="34" charset="0"/>
              </a:rPr>
              <a:t> → Accuracy, Precision, Recall, F1-score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Examples:</a:t>
            </a:r>
          </a:p>
          <a:p>
            <a:pPr lvl="1"/>
            <a:r>
              <a:rPr lang="en-US" dirty="0"/>
              <a:t>Predicting house prices</a:t>
            </a:r>
          </a:p>
          <a:p>
            <a:pPr lvl="1"/>
            <a:r>
              <a:rPr lang="en-US" dirty="0"/>
              <a:t>Forecasting sales</a:t>
            </a:r>
          </a:p>
          <a:p>
            <a:pPr lvl="1"/>
            <a:r>
              <a:rPr lang="en-US" dirty="0"/>
              <a:t>Estimating temperature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9673D-A0E1-0ED5-EF12-69F360998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Classification</a:t>
            </a:r>
          </a:p>
          <a:p>
            <a:pPr marL="0" indent="0">
              <a:buNone/>
            </a:pPr>
            <a:r>
              <a:rPr lang="en-US" sz="2400" dirty="0"/>
              <a:t>Predict </a:t>
            </a:r>
            <a:r>
              <a:rPr lang="en-US" sz="2400" b="1" dirty="0"/>
              <a:t>categorical labels</a:t>
            </a:r>
          </a:p>
          <a:p>
            <a:pPr marL="0" indent="0"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Evaluation</a:t>
            </a:r>
            <a:r>
              <a:rPr lang="en-US" altLang="en-US" sz="2400" dirty="0">
                <a:latin typeface="Arial" panose="020B0604020202020204" pitchFamily="34" charset="0"/>
              </a:rPr>
              <a:t> → MSE, RMSE, MAE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Examples:</a:t>
            </a:r>
          </a:p>
          <a:p>
            <a:pPr lvl="1"/>
            <a:r>
              <a:rPr lang="en-US" dirty="0"/>
              <a:t>Email spam detection (spam / not spam)</a:t>
            </a:r>
          </a:p>
          <a:p>
            <a:pPr lvl="1"/>
            <a:r>
              <a:rPr lang="en-US" dirty="0"/>
              <a:t>Handwritten digit recognition (0–9)</a:t>
            </a:r>
          </a:p>
          <a:p>
            <a:pPr lvl="1"/>
            <a:r>
              <a:rPr lang="en-US" dirty="0"/>
              <a:t>Disease diagnosis (positive / negative)</a:t>
            </a:r>
          </a:p>
          <a:p>
            <a:endParaRPr lang="en-US" sz="24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5FE929-4400-8727-7083-3AFB273B6A0E}"/>
              </a:ext>
            </a:extLst>
          </p:cNvPr>
          <p:cNvCxnSpPr/>
          <p:nvPr/>
        </p:nvCxnSpPr>
        <p:spPr>
          <a:xfrm>
            <a:off x="5543550" y="1838325"/>
            <a:ext cx="0" cy="3733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121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C4BFBB-0AF2-110F-0F1B-0467BB87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76353"/>
            <a:ext cx="10515600" cy="1325563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000" dirty="0"/>
              <a:t>Types of Unsupervised Learning</a:t>
            </a:r>
            <a:endParaRPr lang="en-US" sz="16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5E0205-72BE-82FE-DABB-3BE8739B7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254" y="2630631"/>
            <a:ext cx="3329176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1.Clustering</a:t>
            </a:r>
          </a:p>
          <a:p>
            <a:pPr marL="0" indent="0">
              <a:buNone/>
            </a:pPr>
            <a:r>
              <a:rPr lang="en-US" sz="1600" dirty="0"/>
              <a:t>Group data into </a:t>
            </a:r>
            <a:r>
              <a:rPr lang="en-US" sz="1600" b="1" dirty="0"/>
              <a:t>similar clusters</a:t>
            </a:r>
            <a:r>
              <a:rPr lang="en-US" sz="1600" dirty="0"/>
              <a:t> without labels</a:t>
            </a:r>
          </a:p>
          <a:p>
            <a:pPr marL="0" indent="0">
              <a:buNone/>
            </a:pPr>
            <a:r>
              <a:rPr lang="en-US" sz="1600" dirty="0"/>
              <a:t>Examples:</a:t>
            </a:r>
          </a:p>
          <a:p>
            <a:pPr lvl="1"/>
            <a:r>
              <a:rPr lang="en-US" sz="1600" dirty="0"/>
              <a:t>Customer segmentation for marketing</a:t>
            </a:r>
          </a:p>
          <a:p>
            <a:pPr lvl="1"/>
            <a:r>
              <a:rPr lang="en-US" sz="1600" dirty="0"/>
              <a:t>Grouping news articles by topic</a:t>
            </a:r>
          </a:p>
          <a:p>
            <a:pPr lvl="1"/>
            <a:r>
              <a:rPr lang="en-US" sz="1600" dirty="0"/>
              <a:t>Image segmentation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63F66-5F73-149B-BA3A-62AEEF4F4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62781" y="2624552"/>
            <a:ext cx="3364993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2.Dimensionality Reduction</a:t>
            </a:r>
          </a:p>
          <a:p>
            <a:pPr marL="0" indent="0">
              <a:buNone/>
            </a:pPr>
            <a:r>
              <a:rPr lang="en-US" sz="1600" dirty="0"/>
              <a:t>Reduce </a:t>
            </a:r>
            <a:r>
              <a:rPr lang="en-US" sz="1600" b="1" dirty="0"/>
              <a:t>number of features</a:t>
            </a:r>
            <a:r>
              <a:rPr lang="en-US" sz="1600" dirty="0"/>
              <a:t> while retaining important information</a:t>
            </a:r>
          </a:p>
          <a:p>
            <a:pPr marL="0" indent="0">
              <a:buNone/>
            </a:pPr>
            <a:r>
              <a:rPr lang="en-US" sz="1600" dirty="0"/>
              <a:t>Techniques: PCA, t-SNE, UMAP</a:t>
            </a:r>
          </a:p>
          <a:p>
            <a:pPr marL="0" indent="0">
              <a:buNone/>
            </a:pPr>
            <a:r>
              <a:rPr lang="en-US" sz="1600" dirty="0"/>
              <a:t>Examples:</a:t>
            </a:r>
          </a:p>
          <a:p>
            <a:pPr lvl="1"/>
            <a:r>
              <a:rPr lang="en-US" sz="1600" dirty="0"/>
              <a:t>Visualizing high-dimensional data</a:t>
            </a:r>
          </a:p>
          <a:p>
            <a:pPr lvl="1"/>
            <a:r>
              <a:rPr lang="en-US" sz="1600" dirty="0"/>
              <a:t>Speeding up training by reducing input size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7F02E5-E8E8-DB94-0C57-D4E9068DBC7D}"/>
              </a:ext>
            </a:extLst>
          </p:cNvPr>
          <p:cNvCxnSpPr/>
          <p:nvPr/>
        </p:nvCxnSpPr>
        <p:spPr>
          <a:xfrm>
            <a:off x="3849623" y="2569429"/>
            <a:ext cx="0" cy="3733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CCE6607-F44A-3E76-D773-F30870C5B959}"/>
              </a:ext>
            </a:extLst>
          </p:cNvPr>
          <p:cNvSpPr txBox="1"/>
          <p:nvPr/>
        </p:nvSpPr>
        <p:spPr>
          <a:xfrm>
            <a:off x="7656196" y="2587437"/>
            <a:ext cx="370027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3.Anomaly Detection</a:t>
            </a:r>
          </a:p>
          <a:p>
            <a:r>
              <a:rPr lang="en-US" sz="1600" dirty="0"/>
              <a:t>Identify </a:t>
            </a:r>
            <a:r>
              <a:rPr lang="en-US" sz="1600" b="1" dirty="0"/>
              <a:t>unusual or rare data points</a:t>
            </a:r>
            <a:endParaRPr lang="en-US" sz="1600" dirty="0"/>
          </a:p>
          <a:p>
            <a:r>
              <a:rPr lang="en-US" sz="1600" dirty="0"/>
              <a:t>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Fraud detection in banking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Fault detection in manufacturing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Network intrusion detection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299CF6-E707-F530-7601-514A2827EDAB}"/>
              </a:ext>
            </a:extLst>
          </p:cNvPr>
          <p:cNvCxnSpPr/>
          <p:nvPr/>
        </p:nvCxnSpPr>
        <p:spPr>
          <a:xfrm>
            <a:off x="7513319" y="2569429"/>
            <a:ext cx="0" cy="3733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A3B25ED-92E3-309F-6077-58109D024CF4}"/>
              </a:ext>
            </a:extLst>
          </p:cNvPr>
          <p:cNvSpPr txBox="1"/>
          <p:nvPr/>
        </p:nvSpPr>
        <p:spPr>
          <a:xfrm>
            <a:off x="694945" y="1369100"/>
            <a:ext cx="109636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No labeled outputs are needed</a:t>
            </a:r>
          </a:p>
          <a:p>
            <a:r>
              <a:rPr lang="en-US" sz="1600" dirty="0"/>
              <a:t>Finds </a:t>
            </a:r>
            <a:r>
              <a:rPr lang="en-US" sz="1600" b="1" dirty="0"/>
              <a:t>hidden patterns, structure, or outliers</a:t>
            </a:r>
            <a:r>
              <a:rPr lang="en-US" sz="1600" dirty="0"/>
              <a:t> in the data</a:t>
            </a:r>
          </a:p>
          <a:p>
            <a:pPr>
              <a:buNone/>
            </a:pPr>
            <a:r>
              <a:rPr lang="en-US" sz="1600" b="1" dirty="0"/>
              <a:t>Key Idea:</a:t>
            </a:r>
            <a:br>
              <a:rPr lang="en-US" sz="1600" dirty="0"/>
            </a:br>
            <a:r>
              <a:rPr lang="en-US" sz="1600" dirty="0"/>
              <a:t>Unsupervised learning helps </a:t>
            </a:r>
            <a:r>
              <a:rPr lang="en-US" sz="1600" b="1" dirty="0"/>
              <a:t>discover insights from raw data</a:t>
            </a:r>
            <a:r>
              <a:rPr lang="en-US" sz="1600" dirty="0"/>
              <a:t> without explicit guidance.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E54979-1549-A6F4-6EEF-FDAF4CE338AA}"/>
              </a:ext>
            </a:extLst>
          </p:cNvPr>
          <p:cNvCxnSpPr/>
          <p:nvPr/>
        </p:nvCxnSpPr>
        <p:spPr>
          <a:xfrm>
            <a:off x="484254" y="2446318"/>
            <a:ext cx="108722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425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A17A68D2-0350-B463-FA98-FC9BB083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Semi-Supervised Learning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161C3-2640-A0E7-9DF2-63EB6EFE8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2575" y="555094"/>
            <a:ext cx="6030849" cy="547994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Semi-Supervised Learning?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Bridges the gap between supervised and unsupervised learning</a:t>
            </a:r>
            <a:endParaRPr lang="en-US" sz="1600" b="1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Uses </a:t>
            </a:r>
            <a:r>
              <a:rPr lang="en-US" sz="1600" b="1" dirty="0">
                <a:solidFill>
                  <a:schemeClr val="tx2"/>
                </a:solidFill>
              </a:rPr>
              <a:t>a small amount of labeled data</a:t>
            </a:r>
            <a:r>
              <a:rPr lang="en-US" sz="1600" dirty="0">
                <a:solidFill>
                  <a:schemeClr val="tx2"/>
                </a:solidFill>
              </a:rPr>
              <a:t> + </a:t>
            </a:r>
            <a:r>
              <a:rPr lang="en-US" sz="1600" b="1" dirty="0">
                <a:solidFill>
                  <a:schemeClr val="tx2"/>
                </a:solidFill>
              </a:rPr>
              <a:t>a large amount of unlabeled data</a:t>
            </a:r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Combines strengths of </a:t>
            </a:r>
            <a:r>
              <a:rPr lang="en-US" sz="1600" b="1" dirty="0">
                <a:solidFill>
                  <a:schemeClr val="tx2"/>
                </a:solidFill>
              </a:rPr>
              <a:t>supervised</a:t>
            </a:r>
            <a:r>
              <a:rPr lang="en-US" sz="1600" dirty="0">
                <a:solidFill>
                  <a:schemeClr val="tx2"/>
                </a:solidFill>
              </a:rPr>
              <a:t> and </a:t>
            </a:r>
            <a:r>
              <a:rPr lang="en-US" sz="1600" b="1" dirty="0">
                <a:solidFill>
                  <a:schemeClr val="tx2"/>
                </a:solidFill>
              </a:rPr>
              <a:t>unsupervised</a:t>
            </a:r>
            <a:r>
              <a:rPr lang="en-US" sz="1600" dirty="0">
                <a:solidFill>
                  <a:schemeClr val="tx2"/>
                </a:solidFill>
              </a:rPr>
              <a:t> learning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Use It?</a:t>
            </a:r>
          </a:p>
          <a:p>
            <a:r>
              <a:rPr lang="en-US" sz="1600" dirty="0">
                <a:solidFill>
                  <a:schemeClr val="tx2"/>
                </a:solidFill>
              </a:rPr>
              <a:t>Labeled data is often </a:t>
            </a:r>
            <a:r>
              <a:rPr lang="en-US" sz="1600" b="1" dirty="0">
                <a:solidFill>
                  <a:schemeClr val="tx2"/>
                </a:solidFill>
              </a:rPr>
              <a:t>expensive or time-consuming</a:t>
            </a:r>
            <a:r>
              <a:rPr lang="en-US" sz="1600" dirty="0">
                <a:solidFill>
                  <a:schemeClr val="tx2"/>
                </a:solidFill>
              </a:rPr>
              <a:t> to obtain</a:t>
            </a:r>
          </a:p>
          <a:p>
            <a:r>
              <a:rPr lang="en-US" sz="1600" dirty="0">
                <a:solidFill>
                  <a:schemeClr val="tx2"/>
                </a:solidFill>
              </a:rPr>
              <a:t>Unlabeled data is usually </a:t>
            </a:r>
            <a:r>
              <a:rPr lang="en-US" sz="1600" b="1" dirty="0">
                <a:solidFill>
                  <a:schemeClr val="tx2"/>
                </a:solidFill>
              </a:rPr>
              <a:t>easy to collect</a:t>
            </a:r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Examples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Medical diagnosis:</a:t>
            </a:r>
            <a:r>
              <a:rPr lang="en-US" sz="1600" dirty="0">
                <a:solidFill>
                  <a:schemeClr val="tx2"/>
                </a:solidFill>
              </a:rPr>
              <a:t> Few labeled patient records + many unlabeled cases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Text classification:</a:t>
            </a:r>
            <a:r>
              <a:rPr lang="en-US" sz="1600" dirty="0">
                <a:solidFill>
                  <a:schemeClr val="tx2"/>
                </a:solidFill>
              </a:rPr>
              <a:t> Small set of labeled articles + large corpus of unlabeled texts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Speech recognition:</a:t>
            </a:r>
            <a:r>
              <a:rPr lang="en-US" sz="1600" dirty="0">
                <a:solidFill>
                  <a:schemeClr val="tx2"/>
                </a:solidFill>
              </a:rPr>
              <a:t> Limited labeled audio + massive unlabeled recordings</a:t>
            </a:r>
          </a:p>
          <a:p>
            <a:pPr marL="0" indent="0">
              <a:buNone/>
            </a:pPr>
            <a:endParaRPr lang="en-US" sz="1600" b="1" dirty="0">
              <a:solidFill>
                <a:schemeClr val="tx2"/>
              </a:solidFill>
            </a:endParaRPr>
          </a:p>
          <a:p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049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130912-8C13-72FF-0B47-893FF66A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035808" cy="1677417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What is Reinforcement Learning?</a:t>
            </a:r>
            <a:br>
              <a:rPr lang="en-US" sz="3600" b="1" dirty="0"/>
            </a:b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2E829-391A-0B8E-8BD3-665A45459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0021" y="813816"/>
            <a:ext cx="6206227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Learning by </a:t>
            </a:r>
            <a:r>
              <a:rPr lang="en-US" sz="1800" b="1" dirty="0"/>
              <a:t>trial and error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An </a:t>
            </a:r>
            <a:r>
              <a:rPr lang="en-US" sz="1800" b="1" dirty="0"/>
              <a:t>agent</a:t>
            </a:r>
            <a:r>
              <a:rPr lang="en-US" sz="1800" dirty="0"/>
              <a:t> interacts with an </a:t>
            </a:r>
            <a:r>
              <a:rPr lang="en-US" sz="1800" b="1" dirty="0"/>
              <a:t>environment</a:t>
            </a:r>
            <a:r>
              <a:rPr lang="en-US" sz="1800" dirty="0"/>
              <a:t> and receives </a:t>
            </a:r>
            <a:r>
              <a:rPr lang="en-US" sz="1800" b="1" dirty="0"/>
              <a:t>rewards or penalties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Goal: </a:t>
            </a:r>
            <a:r>
              <a:rPr lang="en-US" sz="1800" b="1" dirty="0"/>
              <a:t>maximize cumulative reward over time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Key Components</a:t>
            </a:r>
          </a:p>
          <a:p>
            <a:pPr lvl="1"/>
            <a:r>
              <a:rPr lang="en-US" sz="1400" b="1" dirty="0"/>
              <a:t>Agent:</a:t>
            </a:r>
            <a:r>
              <a:rPr lang="en-US" sz="1400" dirty="0"/>
              <a:t> The learner or decision maker</a:t>
            </a:r>
          </a:p>
          <a:p>
            <a:pPr lvl="1"/>
            <a:r>
              <a:rPr lang="en-US" sz="1400" b="1" dirty="0"/>
              <a:t>Environment:</a:t>
            </a:r>
            <a:r>
              <a:rPr lang="en-US" sz="1400" dirty="0"/>
              <a:t> Where the agent acts</a:t>
            </a:r>
          </a:p>
          <a:p>
            <a:pPr lvl="1"/>
            <a:r>
              <a:rPr lang="en-US" sz="1400" b="1" dirty="0"/>
              <a:t>Actions:</a:t>
            </a:r>
            <a:r>
              <a:rPr lang="en-US" sz="1400" dirty="0"/>
              <a:t> Choices the agent can make</a:t>
            </a:r>
          </a:p>
          <a:p>
            <a:pPr lvl="1"/>
            <a:r>
              <a:rPr lang="en-US" sz="1400" b="1" dirty="0"/>
              <a:t>Rewards:</a:t>
            </a:r>
            <a:r>
              <a:rPr lang="en-US" sz="1400" dirty="0"/>
              <a:t> Feedback signal to guide learning</a:t>
            </a:r>
          </a:p>
          <a:p>
            <a:pPr lvl="1"/>
            <a:r>
              <a:rPr lang="en-US" sz="1400" b="1" dirty="0"/>
              <a:t>Policy:</a:t>
            </a:r>
            <a:r>
              <a:rPr lang="en-US" sz="1400" dirty="0"/>
              <a:t> Strategy for choosing actions</a:t>
            </a:r>
          </a:p>
          <a:p>
            <a:pPr marL="0" indent="0">
              <a:buNone/>
            </a:pPr>
            <a:r>
              <a:rPr lang="en-US" sz="1800" b="1" dirty="0"/>
              <a:t>Examples</a:t>
            </a:r>
          </a:p>
          <a:p>
            <a:pPr lvl="1"/>
            <a:r>
              <a:rPr lang="en-US" sz="1400" b="1" dirty="0"/>
              <a:t>Self-driving cars:</a:t>
            </a:r>
            <a:r>
              <a:rPr lang="en-US" sz="1400" dirty="0"/>
              <a:t> Learn to navigate safely in traffic</a:t>
            </a:r>
          </a:p>
          <a:p>
            <a:pPr lvl="1"/>
            <a:r>
              <a:rPr lang="en-US" sz="1400" b="1" dirty="0"/>
              <a:t>Game-playing AI:</a:t>
            </a:r>
            <a:r>
              <a:rPr lang="en-US" sz="1400" dirty="0"/>
              <a:t> AlphaGo, Chess, Atari games</a:t>
            </a:r>
          </a:p>
          <a:p>
            <a:pPr lvl="1"/>
            <a:r>
              <a:rPr lang="en-US" sz="1400" b="1" dirty="0"/>
              <a:t>Robotics:</a:t>
            </a:r>
            <a:r>
              <a:rPr lang="en-US" sz="1400" dirty="0"/>
              <a:t> Teaching robots to pick and place objects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F28F0F-2A99-4AE1-EF03-48EA03586F07}"/>
              </a:ext>
            </a:extLst>
          </p:cNvPr>
          <p:cNvSpPr txBox="1"/>
          <p:nvPr/>
        </p:nvSpPr>
        <p:spPr>
          <a:xfrm>
            <a:off x="134874" y="3148041"/>
            <a:ext cx="40805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RL allows AI to </a:t>
            </a:r>
            <a:r>
              <a:rPr lang="en-US" sz="1800" b="1" dirty="0"/>
              <a:t>learn optimal strategies</a:t>
            </a:r>
            <a:r>
              <a:rPr lang="en-US" sz="1800" dirty="0"/>
              <a:t> in dynamic, uncertain environments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Different from supervised learning no fixed “correct answer,” only feedback</a:t>
            </a:r>
          </a:p>
        </p:txBody>
      </p:sp>
    </p:spTree>
    <p:extLst>
      <p:ext uri="{BB962C8B-B14F-4D97-AF65-F5344CB8AC3E}">
        <p14:creationId xmlns:p14="http://schemas.microsoft.com/office/powerpoint/2010/main" val="2967907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075E5-52C1-2547-18C1-3524D8B08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Evaluation Methods in Machine Learning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8004F-BF58-2614-3EE9-A43412849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 dirty="0"/>
              <a:t>For Supervised Learning</a:t>
            </a:r>
          </a:p>
          <a:p>
            <a:pPr marL="457200" lvl="1" indent="0">
              <a:buNone/>
            </a:pPr>
            <a:r>
              <a:rPr lang="en-US" sz="2200" b="1" dirty="0"/>
              <a:t>1.Regression Metrics (predicting numbers)</a:t>
            </a:r>
          </a:p>
          <a:p>
            <a:pPr lvl="2"/>
            <a:r>
              <a:rPr lang="en-US" sz="2200" b="1" dirty="0"/>
              <a:t>Mean Absolute Error (MAE):</a:t>
            </a:r>
            <a:r>
              <a:rPr lang="en-US" sz="2200" dirty="0"/>
              <a:t> Average absolute difference between predicted &amp; actual</a:t>
            </a:r>
          </a:p>
          <a:p>
            <a:pPr lvl="2"/>
            <a:r>
              <a:rPr lang="en-US" sz="2200" b="1" dirty="0"/>
              <a:t>Mean Squared Error (MSE):</a:t>
            </a:r>
            <a:r>
              <a:rPr lang="en-US" sz="2200" dirty="0"/>
              <a:t> Average squared difference (penalizes large errors)</a:t>
            </a:r>
          </a:p>
          <a:p>
            <a:pPr lvl="2"/>
            <a:r>
              <a:rPr lang="en-US" sz="2200" b="1" dirty="0"/>
              <a:t>Root Mean Squared Error (RMSE):</a:t>
            </a:r>
            <a:r>
              <a:rPr lang="en-US" sz="2200" dirty="0"/>
              <a:t> Square root of MSE, same units as target</a:t>
            </a:r>
          </a:p>
          <a:p>
            <a:pPr lvl="2"/>
            <a:r>
              <a:rPr lang="en-US" sz="2200" b="1" dirty="0"/>
              <a:t>R² Score:</a:t>
            </a:r>
            <a:r>
              <a:rPr lang="en-US" sz="2200" dirty="0"/>
              <a:t> How much variance in data is explained by the model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58004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54E4AB-1CE7-FD28-62D0-2C6FF9B1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ECD6B1-2047-E64C-E1F7-5E0C3DCD7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E121B-71D6-0636-5EAD-13419666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Evaluation Methods in Machine Learning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1DEC8AE0-B9D9-885E-79EF-0A6280BBE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1CECC-1E93-2F05-C7A4-AA35DCE02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1027579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 dirty="0"/>
              <a:t>For Supervised Learning</a:t>
            </a:r>
          </a:p>
          <a:p>
            <a:pPr marL="457200" lvl="1" indent="0">
              <a:buNone/>
            </a:pPr>
            <a:r>
              <a:rPr lang="en-US" sz="2200" b="1" dirty="0"/>
              <a:t>2. Classification Metrics (predicting categories)</a:t>
            </a:r>
          </a:p>
          <a:p>
            <a:pPr lvl="2"/>
            <a:r>
              <a:rPr lang="en-US" sz="2200" b="1" dirty="0"/>
              <a:t>Accuracy:</a:t>
            </a:r>
            <a:r>
              <a:rPr lang="en-US" sz="2200" dirty="0"/>
              <a:t> Fraction of correct predictions</a:t>
            </a:r>
          </a:p>
          <a:p>
            <a:pPr lvl="2"/>
            <a:r>
              <a:rPr lang="en-US" sz="2200" b="1" dirty="0"/>
              <a:t>Precision:</a:t>
            </a:r>
            <a:r>
              <a:rPr lang="en-US" sz="2200" dirty="0"/>
              <a:t> Correct positive predictions / all predicted positives</a:t>
            </a:r>
          </a:p>
          <a:p>
            <a:pPr lvl="2"/>
            <a:r>
              <a:rPr lang="en-US" sz="2200" b="1" dirty="0"/>
              <a:t>Recall (Sensitivity):</a:t>
            </a:r>
            <a:r>
              <a:rPr lang="en-US" sz="2200" dirty="0"/>
              <a:t> Correct positive predictions / all actual positives</a:t>
            </a:r>
          </a:p>
          <a:p>
            <a:pPr lvl="2"/>
            <a:r>
              <a:rPr lang="en-US" sz="2200" b="1" dirty="0"/>
              <a:t>F1 Score:</a:t>
            </a:r>
            <a:r>
              <a:rPr lang="en-US" sz="2200" dirty="0"/>
              <a:t> Harmonic mean of precision &amp; recall</a:t>
            </a:r>
          </a:p>
          <a:p>
            <a:pPr lvl="2"/>
            <a:r>
              <a:rPr lang="en-US" sz="2200" b="1" dirty="0"/>
              <a:t>Confusion Matrix:</a:t>
            </a:r>
            <a:r>
              <a:rPr lang="en-US" sz="2200" dirty="0"/>
              <a:t> Visual representation of True Positives, False Positives, etc.</a:t>
            </a:r>
          </a:p>
          <a:p>
            <a:pPr lvl="2"/>
            <a:r>
              <a:rPr lang="en-US" sz="2200" b="1" dirty="0"/>
              <a:t>ROC-AUC:</a:t>
            </a:r>
            <a:r>
              <a:rPr lang="en-US" sz="2200" dirty="0"/>
              <a:t> Measures model’s ability to distinguish classes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47106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C9F87-EAB1-B81B-DEF8-4FB7C2C7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ABC207-989D-3222-A2C4-1AA5E6B28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B285D-D0A4-530F-A19B-A41DFA435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Evaluation Methods in Machine Learning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2FD6AA9-3B7C-E970-C50A-AB41C0427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12EE8-6DDB-F6EC-A4DF-61292AEA9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1027579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For Unsupervised Learning</a:t>
            </a:r>
          </a:p>
          <a:p>
            <a:r>
              <a:rPr lang="en-US" sz="2400" b="1" dirty="0"/>
              <a:t>Clustering:</a:t>
            </a:r>
            <a:r>
              <a:rPr lang="en-US" sz="2400" dirty="0"/>
              <a:t> Silhouette Score, Davies-Bouldin Index, </a:t>
            </a:r>
            <a:r>
              <a:rPr lang="en-US" sz="2400" dirty="0" err="1"/>
              <a:t>Calinski-Harabasz</a:t>
            </a:r>
            <a:r>
              <a:rPr lang="en-US" sz="2400" dirty="0"/>
              <a:t> Index</a:t>
            </a:r>
          </a:p>
          <a:p>
            <a:r>
              <a:rPr lang="en-US" sz="2400" b="1" dirty="0"/>
              <a:t>Dimensionality Reduction:</a:t>
            </a:r>
            <a:r>
              <a:rPr lang="en-US" sz="2400" dirty="0"/>
              <a:t> Explained variance (PCA), reconstruction error (autoencoders)</a:t>
            </a:r>
          </a:p>
          <a:p>
            <a:r>
              <a:rPr lang="en-US" sz="2400" b="1" dirty="0"/>
              <a:t>Anomaly Detection:</a:t>
            </a:r>
            <a:r>
              <a:rPr lang="en-US" sz="2400" dirty="0"/>
              <a:t> Precision, recall, F1-score for detected anomalies</a:t>
            </a:r>
          </a:p>
        </p:txBody>
      </p:sp>
    </p:spTree>
    <p:extLst>
      <p:ext uri="{BB962C8B-B14F-4D97-AF65-F5344CB8AC3E}">
        <p14:creationId xmlns:p14="http://schemas.microsoft.com/office/powerpoint/2010/main" val="4248514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1518</Words>
  <Application>Microsoft Office PowerPoint</Application>
  <PresentationFormat>Widescreen</PresentationFormat>
  <Paragraphs>233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Office Theme</vt:lpstr>
      <vt:lpstr>Machine Learning Life Cycle &amp; Semester Project</vt:lpstr>
      <vt:lpstr>Why Use Machine Learning?</vt:lpstr>
      <vt:lpstr>1.Beyond Rule-Based Systems</vt:lpstr>
      <vt:lpstr>2. Machine Learning Agents</vt:lpstr>
      <vt:lpstr>3.ML Makes Agents Smarter</vt:lpstr>
      <vt:lpstr>What is Machine Learning?  A way for computers to learn patterns from data Makes predictions or decisions without being explicitly programmed </vt:lpstr>
      <vt:lpstr>Why Use Machine Learning?</vt:lpstr>
      <vt:lpstr>Data Understanding</vt:lpstr>
      <vt:lpstr>Data Preprocessing</vt:lpstr>
      <vt:lpstr>Feature Extraction/Engineering &amp; Selection</vt:lpstr>
      <vt:lpstr>PowerPoint Presentation</vt:lpstr>
      <vt:lpstr>Train &amp; Test:</vt:lpstr>
      <vt:lpstr>PowerPoint Presentation</vt:lpstr>
      <vt:lpstr>PowerPoint Presentation</vt:lpstr>
      <vt:lpstr>Validation Set — The Tuning Track </vt:lpstr>
      <vt:lpstr>Model Training:</vt:lpstr>
      <vt:lpstr>Types of Machine Learning:</vt:lpstr>
      <vt:lpstr>Types of Supervised Learning: Requires labeled data (input → known output) Model learns the mapping from features to label Supervised learning is all about predicting known outcomes using historical data. </vt:lpstr>
      <vt:lpstr>Types of Unsupervised Learning</vt:lpstr>
      <vt:lpstr>Semi-Supervised Learning</vt:lpstr>
      <vt:lpstr>What is Reinforcement Learning? </vt:lpstr>
      <vt:lpstr>Evaluation Methods in Machine Learning</vt:lpstr>
      <vt:lpstr>Evaluation Methods in Machine Learning</vt:lpstr>
      <vt:lpstr>Evaluation Methods in 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Maham Ashraf</dc:creator>
  <cp:lastModifiedBy>Maham Ashraf</cp:lastModifiedBy>
  <cp:revision>6</cp:revision>
  <dcterms:created xsi:type="dcterms:W3CDTF">2025-11-18T19:28:11Z</dcterms:created>
  <dcterms:modified xsi:type="dcterms:W3CDTF">2025-11-18T20:53:00Z</dcterms:modified>
</cp:coreProperties>
</file>
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73" r:id="rId4"/>
    <p:sldId id="274" r:id="rId5"/>
    <p:sldId id="275" r:id="rId6"/>
    <p:sldId id="276" r:id="rId7"/>
    <p:sldId id="277" r:id="rId8"/>
    <p:sldId id="278" r:id="rId9"/>
    <p:sldId id="279" r:id="rId10"/>
    <p:sldId id="280" r:id="rId11"/>
    <p:sldId id="281" r:id="rId12"/>
    <p:sldId id="257" r:id="rId13"/>
    <p:sldId id="258" r:id="rId14"/>
    <p:sldId id="260" r:id="rId15"/>
    <p:sldId id="261" r:id="rId16"/>
    <p:sldId id="263" r:id="rId17"/>
    <p:sldId id="262" r:id="rId18"/>
    <p:sldId id="264" r:id="rId19"/>
    <p:sldId id="265" r:id="rId20"/>
    <p:sldId id="266" r:id="rId21"/>
    <p:sldId id="267" r:id="rId22"/>
    <p:sldId id="269" r:id="rId23"/>
    <p:sldId id="27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4/26/2025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4/26/2025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eeksforgeeks.org/methods-of-data-collectio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data-cleansing-introducti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what-is-exploratory-data-analysi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powe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1385B-DB71-4DC9-9EF6-E2EAB2CE1DD2}"/>
              </a:ext>
            </a:extLst>
          </p:cNvPr>
          <p:cNvSpPr>
            <a:spLocks noGrp="1"/>
          </p:cNvSpPr>
          <p:nvPr>
            <p:ph type="ctrTitle"/>
          </p:nvPr>
        </p:nvSpPr>
        <p:spPr>
          <a:xfrm>
            <a:off x="2417779" y="802298"/>
            <a:ext cx="8637073" cy="2626702"/>
          </a:xfrm>
        </p:spPr>
        <p:txBody>
          <a:bodyPr>
            <a:normAutofit fontScale="90000"/>
          </a:bodyPr>
          <a:lstStyle/>
          <a:p>
            <a:r>
              <a:rPr lang="en-US" b="1" i="0" dirty="0">
                <a:solidFill>
                  <a:srgbClr val="273239"/>
                </a:solidFill>
                <a:effectLst/>
                <a:latin typeface="Source Sans 3"/>
              </a:rPr>
              <a:t>Machine Learning Lifecycle</a:t>
            </a:r>
            <a:br>
              <a:rPr lang="en-US" b="1" i="0" dirty="0">
                <a:solidFill>
                  <a:srgbClr val="273239"/>
                </a:solidFill>
                <a:effectLst/>
                <a:latin typeface="Source Sans 3"/>
              </a:rPr>
            </a:br>
            <a:endParaRPr lang="en-US" dirty="0"/>
          </a:p>
        </p:txBody>
      </p:sp>
    </p:spTree>
    <p:extLst>
      <p:ext uri="{BB962C8B-B14F-4D97-AF65-F5344CB8AC3E}">
        <p14:creationId xmlns:p14="http://schemas.microsoft.com/office/powerpoint/2010/main" val="3117876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CDC85-21CA-4324-9D20-E9929A891AE5}"/>
              </a:ext>
            </a:extLst>
          </p:cNvPr>
          <p:cNvSpPr>
            <a:spLocks noGrp="1"/>
          </p:cNvSpPr>
          <p:nvPr>
            <p:ph type="title"/>
          </p:nvPr>
        </p:nvSpPr>
        <p:spPr/>
        <p:txBody>
          <a:bodyPr/>
          <a:lstStyle/>
          <a:p>
            <a:r>
              <a:rPr lang="en-US" dirty="0"/>
              <a:t>What is MACHINE LEARNING</a:t>
            </a:r>
          </a:p>
        </p:txBody>
      </p:sp>
      <p:sp>
        <p:nvSpPr>
          <p:cNvPr id="3" name="Content Placeholder 2">
            <a:extLst>
              <a:ext uri="{FF2B5EF4-FFF2-40B4-BE49-F238E27FC236}">
                <a16:creationId xmlns:a16="http://schemas.microsoft.com/office/drawing/2014/main" id="{1864A078-9CAB-46D8-B4A0-FE37624B55F8}"/>
              </a:ext>
            </a:extLst>
          </p:cNvPr>
          <p:cNvSpPr>
            <a:spLocks noGrp="1"/>
          </p:cNvSpPr>
          <p:nvPr>
            <p:ph idx="1"/>
          </p:nvPr>
        </p:nvSpPr>
        <p:spPr/>
        <p:txBody>
          <a:bodyPr/>
          <a:lstStyle/>
          <a:p>
            <a:r>
              <a:rPr lang="en-US" b="1" i="0" dirty="0">
                <a:solidFill>
                  <a:srgbClr val="080809"/>
                </a:solidFill>
                <a:effectLst/>
                <a:latin typeface="PT Serif" panose="020B0604020202020204" pitchFamily="18" charset="0"/>
              </a:rPr>
              <a:t>Machine learning (ML) is a discipline of artificial intelligence (AI) that provides machines with the ability to automatically learn from data and past experiences while identifying patterns to make predictions with minimal human intervention.</a:t>
            </a:r>
            <a:endParaRPr lang="en-US" dirty="0"/>
          </a:p>
        </p:txBody>
      </p:sp>
    </p:spTree>
    <p:extLst>
      <p:ext uri="{BB962C8B-B14F-4D97-AF65-F5344CB8AC3E}">
        <p14:creationId xmlns:p14="http://schemas.microsoft.com/office/powerpoint/2010/main" val="571141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30FAF-7DEB-4367-BE4F-7585CEB5E092}"/>
              </a:ext>
            </a:extLst>
          </p:cNvPr>
          <p:cNvSpPr>
            <a:spLocks noGrp="1"/>
          </p:cNvSpPr>
          <p:nvPr>
            <p:ph type="title"/>
          </p:nvPr>
        </p:nvSpPr>
        <p:spPr/>
        <p:txBody>
          <a:bodyPr/>
          <a:lstStyle/>
          <a:p>
            <a:r>
              <a:rPr lang="en-US" dirty="0"/>
              <a:t>Types of machine learning</a:t>
            </a:r>
          </a:p>
        </p:txBody>
      </p:sp>
      <p:sp>
        <p:nvSpPr>
          <p:cNvPr id="3" name="Content Placeholder 2">
            <a:extLst>
              <a:ext uri="{FF2B5EF4-FFF2-40B4-BE49-F238E27FC236}">
                <a16:creationId xmlns:a16="http://schemas.microsoft.com/office/drawing/2014/main" id="{F22F3969-94B8-4A2B-90C7-35B1BB88745C}"/>
              </a:ext>
            </a:extLst>
          </p:cNvPr>
          <p:cNvSpPr>
            <a:spLocks noGrp="1"/>
          </p:cNvSpPr>
          <p:nvPr>
            <p:ph idx="1"/>
          </p:nvPr>
        </p:nvSpPr>
        <p:spPr>
          <a:xfrm>
            <a:off x="1451579" y="1864591"/>
            <a:ext cx="9603275" cy="3450613"/>
          </a:xfrm>
        </p:spPr>
        <p:txBody>
          <a:bodyPr/>
          <a:lstStyle/>
          <a:p>
            <a:r>
              <a:rPr lang="en-US" b="0" i="0" dirty="0">
                <a:solidFill>
                  <a:srgbClr val="080809"/>
                </a:solidFill>
                <a:effectLst/>
                <a:latin typeface="PT Serif" panose="020A0603040505020204" pitchFamily="18" charset="0"/>
              </a:rPr>
              <a:t>Based on these methods and ways of learning, machine learning is broadly categorized into four main types:</a:t>
            </a:r>
            <a:endParaRPr lang="en-US" dirty="0"/>
          </a:p>
          <a:p>
            <a:endParaRPr lang="en-US" dirty="0"/>
          </a:p>
        </p:txBody>
      </p:sp>
      <p:pic>
        <p:nvPicPr>
          <p:cNvPr id="7" name="Picture 6">
            <a:extLst>
              <a:ext uri="{FF2B5EF4-FFF2-40B4-BE49-F238E27FC236}">
                <a16:creationId xmlns:a16="http://schemas.microsoft.com/office/drawing/2014/main" id="{2C9FA743-8611-4407-BCEE-37BA39260DA5}"/>
              </a:ext>
            </a:extLst>
          </p:cNvPr>
          <p:cNvPicPr>
            <a:picLocks noChangeAspect="1"/>
          </p:cNvPicPr>
          <p:nvPr/>
        </p:nvPicPr>
        <p:blipFill>
          <a:blip r:embed="rId2"/>
          <a:stretch>
            <a:fillRect/>
          </a:stretch>
        </p:blipFill>
        <p:spPr>
          <a:xfrm>
            <a:off x="2576512" y="2715544"/>
            <a:ext cx="7038975" cy="3286125"/>
          </a:xfrm>
          <a:prstGeom prst="rect">
            <a:avLst/>
          </a:prstGeom>
        </p:spPr>
      </p:pic>
    </p:spTree>
    <p:extLst>
      <p:ext uri="{BB962C8B-B14F-4D97-AF65-F5344CB8AC3E}">
        <p14:creationId xmlns:p14="http://schemas.microsoft.com/office/powerpoint/2010/main" val="3597473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75802-5775-410C-A605-555DBC6B72A1}"/>
              </a:ext>
            </a:extLst>
          </p:cNvPr>
          <p:cNvSpPr>
            <a:spLocks noGrp="1"/>
          </p:cNvSpPr>
          <p:nvPr>
            <p:ph type="title"/>
          </p:nvPr>
        </p:nvSpPr>
        <p:spPr/>
        <p:txBody>
          <a:bodyPr/>
          <a:lstStyle/>
          <a:p>
            <a:r>
              <a:rPr lang="en-US" b="0" i="0" dirty="0">
                <a:solidFill>
                  <a:srgbClr val="080809"/>
                </a:solidFill>
                <a:effectLst/>
                <a:latin typeface="Roboto" panose="02000000000000000000" pitchFamily="2" charset="0"/>
              </a:rPr>
              <a:t>Supervised machine learning</a:t>
            </a:r>
            <a:endParaRPr lang="en-US" dirty="0"/>
          </a:p>
        </p:txBody>
      </p:sp>
      <p:sp>
        <p:nvSpPr>
          <p:cNvPr id="3" name="Content Placeholder 2">
            <a:extLst>
              <a:ext uri="{FF2B5EF4-FFF2-40B4-BE49-F238E27FC236}">
                <a16:creationId xmlns:a16="http://schemas.microsoft.com/office/drawing/2014/main" id="{CCD0D9EA-9941-4E9E-892E-D54DDDA351B4}"/>
              </a:ext>
            </a:extLst>
          </p:cNvPr>
          <p:cNvSpPr>
            <a:spLocks noGrp="1"/>
          </p:cNvSpPr>
          <p:nvPr>
            <p:ph idx="1"/>
          </p:nvPr>
        </p:nvSpPr>
        <p:spPr/>
        <p:txBody>
          <a:bodyPr>
            <a:normAutofit lnSpcReduction="10000"/>
          </a:bodyPr>
          <a:lstStyle/>
          <a:p>
            <a:r>
              <a:rPr lang="en-US" b="1" dirty="0"/>
              <a:t>Definition:</a:t>
            </a:r>
            <a:br>
              <a:rPr lang="en-US" dirty="0"/>
            </a:br>
            <a:r>
              <a:rPr lang="en-US" dirty="0"/>
              <a:t>The model is trained on a labeled dataset, meaning each training example is paired with the correct output. The goal is to learn a mapping from inputs to outputs.</a:t>
            </a:r>
          </a:p>
          <a:p>
            <a:r>
              <a:rPr lang="en-US" b="1" dirty="0"/>
              <a:t>Examples:</a:t>
            </a:r>
            <a:endParaRPr lang="en-US" dirty="0"/>
          </a:p>
          <a:p>
            <a:pPr>
              <a:buFont typeface="Arial" panose="020B0604020202020204" pitchFamily="34" charset="0"/>
              <a:buChar char="•"/>
            </a:pPr>
            <a:r>
              <a:rPr lang="en-US" dirty="0"/>
              <a:t>Classification (e.g., spam detection)</a:t>
            </a:r>
          </a:p>
          <a:p>
            <a:pPr>
              <a:buFont typeface="Arial" panose="020B0604020202020204" pitchFamily="34" charset="0"/>
              <a:buChar char="•"/>
            </a:pPr>
            <a:r>
              <a:rPr lang="en-US" dirty="0"/>
              <a:t>Regression (e.g., house price prediction)</a:t>
            </a:r>
          </a:p>
          <a:p>
            <a:r>
              <a:rPr lang="en-US" b="1" dirty="0"/>
              <a:t>Algorithms:</a:t>
            </a:r>
            <a:endParaRPr lang="en-US" dirty="0"/>
          </a:p>
          <a:p>
            <a:pPr>
              <a:buFont typeface="Arial" panose="020B0604020202020204" pitchFamily="34" charset="0"/>
              <a:buChar char="•"/>
            </a:pPr>
            <a:r>
              <a:rPr lang="en-US" dirty="0"/>
              <a:t>Linear Regression, Decision Trees, Support Vector Machines, k-NN, Neural Networks</a:t>
            </a:r>
          </a:p>
          <a:p>
            <a:endParaRPr lang="en-US" dirty="0"/>
          </a:p>
        </p:txBody>
      </p:sp>
    </p:spTree>
    <p:extLst>
      <p:ext uri="{BB962C8B-B14F-4D97-AF65-F5344CB8AC3E}">
        <p14:creationId xmlns:p14="http://schemas.microsoft.com/office/powerpoint/2010/main" val="2577494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F064-2E80-4A2B-A26D-CDC3219F787A}"/>
              </a:ext>
            </a:extLst>
          </p:cNvPr>
          <p:cNvSpPr>
            <a:spLocks noGrp="1"/>
          </p:cNvSpPr>
          <p:nvPr>
            <p:ph type="title"/>
          </p:nvPr>
        </p:nvSpPr>
        <p:spPr/>
        <p:txBody>
          <a:bodyPr/>
          <a:lstStyle/>
          <a:p>
            <a:r>
              <a:rPr lang="en-US" dirty="0"/>
              <a:t>Classification</a:t>
            </a:r>
          </a:p>
        </p:txBody>
      </p:sp>
      <p:sp>
        <p:nvSpPr>
          <p:cNvPr id="3" name="Content Placeholder 2">
            <a:extLst>
              <a:ext uri="{FF2B5EF4-FFF2-40B4-BE49-F238E27FC236}">
                <a16:creationId xmlns:a16="http://schemas.microsoft.com/office/drawing/2014/main" id="{1A825D30-2B00-4856-A2FD-67BF40931C06}"/>
              </a:ext>
            </a:extLst>
          </p:cNvPr>
          <p:cNvSpPr>
            <a:spLocks noGrp="1"/>
          </p:cNvSpPr>
          <p:nvPr>
            <p:ph idx="1"/>
          </p:nvPr>
        </p:nvSpPr>
        <p:spPr/>
        <p:txBody>
          <a:bodyPr>
            <a:normAutofit lnSpcReduction="10000"/>
          </a:bodyPr>
          <a:lstStyle/>
          <a:p>
            <a:r>
              <a:rPr lang="en-US" b="1" dirty="0"/>
              <a:t>Definition:</a:t>
            </a:r>
            <a:br>
              <a:rPr lang="en-US" dirty="0"/>
            </a:br>
            <a:r>
              <a:rPr lang="en-US" dirty="0"/>
              <a:t>Classification is a supervised learning task where the goal is to predict a </a:t>
            </a:r>
            <a:r>
              <a:rPr lang="en-US" b="1" dirty="0"/>
              <a:t>category or class label</a:t>
            </a:r>
            <a:r>
              <a:rPr lang="en-US" dirty="0"/>
              <a:t> for a given input.</a:t>
            </a:r>
          </a:p>
          <a:p>
            <a:r>
              <a:rPr lang="en-US" b="1" dirty="0"/>
              <a:t>Example:</a:t>
            </a:r>
            <a:endParaRPr lang="en-US" dirty="0"/>
          </a:p>
          <a:p>
            <a:pPr>
              <a:buFont typeface="Arial" panose="020B0604020202020204" pitchFamily="34" charset="0"/>
              <a:buChar char="•"/>
            </a:pPr>
            <a:r>
              <a:rPr lang="en-US" dirty="0"/>
              <a:t>Predicting if an email is </a:t>
            </a:r>
            <a:r>
              <a:rPr lang="en-US" i="1" dirty="0"/>
              <a:t>spam</a:t>
            </a:r>
            <a:r>
              <a:rPr lang="en-US" dirty="0"/>
              <a:t> or </a:t>
            </a:r>
            <a:r>
              <a:rPr lang="en-US" i="1" dirty="0"/>
              <a:t>not spam</a:t>
            </a:r>
            <a:endParaRPr lang="en-US" dirty="0"/>
          </a:p>
          <a:p>
            <a:pPr>
              <a:buFont typeface="Arial" panose="020B0604020202020204" pitchFamily="34" charset="0"/>
              <a:buChar char="•"/>
            </a:pPr>
            <a:r>
              <a:rPr lang="en-US" dirty="0"/>
              <a:t>Diagnosing a patient as having </a:t>
            </a:r>
            <a:r>
              <a:rPr lang="en-US" i="1" dirty="0"/>
              <a:t>disease A</a:t>
            </a:r>
            <a:r>
              <a:rPr lang="en-US" dirty="0"/>
              <a:t>, </a:t>
            </a:r>
            <a:r>
              <a:rPr lang="en-US" i="1" dirty="0"/>
              <a:t>B</a:t>
            </a:r>
            <a:r>
              <a:rPr lang="en-US" dirty="0"/>
              <a:t>, or </a:t>
            </a:r>
            <a:r>
              <a:rPr lang="en-US" i="1" dirty="0"/>
              <a:t>C</a:t>
            </a:r>
            <a:endParaRPr lang="en-US" dirty="0"/>
          </a:p>
          <a:p>
            <a:r>
              <a:rPr lang="en-US" b="1" dirty="0"/>
              <a:t>Output:</a:t>
            </a:r>
            <a:br>
              <a:rPr lang="en-US" dirty="0"/>
            </a:br>
            <a:r>
              <a:rPr lang="en-US" dirty="0"/>
              <a:t>Discrete values (e.g., labels like "yes/no", "cat/dog", "pass/fail")</a:t>
            </a:r>
          </a:p>
          <a:p>
            <a:endParaRPr lang="en-US" dirty="0"/>
          </a:p>
        </p:txBody>
      </p:sp>
    </p:spTree>
    <p:extLst>
      <p:ext uri="{BB962C8B-B14F-4D97-AF65-F5344CB8AC3E}">
        <p14:creationId xmlns:p14="http://schemas.microsoft.com/office/powerpoint/2010/main" val="4278108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47E99-9B7B-4255-9A44-1D8722D91742}"/>
              </a:ext>
            </a:extLst>
          </p:cNvPr>
          <p:cNvSpPr>
            <a:spLocks noGrp="1"/>
          </p:cNvSpPr>
          <p:nvPr>
            <p:ph type="title"/>
          </p:nvPr>
        </p:nvSpPr>
        <p:spPr/>
        <p:txBody>
          <a:bodyPr/>
          <a:lstStyle/>
          <a:p>
            <a:r>
              <a:rPr lang="en-US" dirty="0"/>
              <a:t>Regression</a:t>
            </a:r>
          </a:p>
        </p:txBody>
      </p:sp>
      <p:sp>
        <p:nvSpPr>
          <p:cNvPr id="3" name="Content Placeholder 2">
            <a:extLst>
              <a:ext uri="{FF2B5EF4-FFF2-40B4-BE49-F238E27FC236}">
                <a16:creationId xmlns:a16="http://schemas.microsoft.com/office/drawing/2014/main" id="{3B0A2A61-DEC3-46F2-846E-6B1837BB7A45}"/>
              </a:ext>
            </a:extLst>
          </p:cNvPr>
          <p:cNvSpPr>
            <a:spLocks noGrp="1"/>
          </p:cNvSpPr>
          <p:nvPr>
            <p:ph idx="1"/>
          </p:nvPr>
        </p:nvSpPr>
        <p:spPr/>
        <p:txBody>
          <a:bodyPr>
            <a:normAutofit lnSpcReduction="10000"/>
          </a:bodyPr>
          <a:lstStyle/>
          <a:p>
            <a:r>
              <a:rPr lang="en-US" b="1" dirty="0"/>
              <a:t>Definition:</a:t>
            </a:r>
            <a:br>
              <a:rPr lang="en-US" dirty="0"/>
            </a:br>
            <a:r>
              <a:rPr lang="en-US" dirty="0"/>
              <a:t>Regression is a supervised learning task where the goal is to predict a </a:t>
            </a:r>
            <a:r>
              <a:rPr lang="en-US" b="1" dirty="0"/>
              <a:t>continuous numerical value</a:t>
            </a:r>
            <a:r>
              <a:rPr lang="en-US" dirty="0"/>
              <a:t> for a given input.</a:t>
            </a:r>
          </a:p>
          <a:p>
            <a:r>
              <a:rPr lang="en-US" b="1" dirty="0"/>
              <a:t>Example:</a:t>
            </a:r>
            <a:endParaRPr lang="en-US" dirty="0"/>
          </a:p>
          <a:p>
            <a:pPr>
              <a:buFont typeface="Arial" panose="020B0604020202020204" pitchFamily="34" charset="0"/>
              <a:buChar char="•"/>
            </a:pPr>
            <a:r>
              <a:rPr lang="en-US" dirty="0"/>
              <a:t>Predicting the </a:t>
            </a:r>
            <a:r>
              <a:rPr lang="en-US" i="1" dirty="0"/>
              <a:t>price of a house</a:t>
            </a:r>
            <a:r>
              <a:rPr lang="en-US" dirty="0"/>
              <a:t> based on size and location</a:t>
            </a:r>
          </a:p>
          <a:p>
            <a:pPr>
              <a:buFont typeface="Arial" panose="020B0604020202020204" pitchFamily="34" charset="0"/>
              <a:buChar char="•"/>
            </a:pPr>
            <a:r>
              <a:rPr lang="en-US" dirty="0"/>
              <a:t>Estimating </a:t>
            </a:r>
            <a:r>
              <a:rPr lang="en-US" i="1" dirty="0"/>
              <a:t>temperature</a:t>
            </a:r>
            <a:r>
              <a:rPr lang="en-US" dirty="0"/>
              <a:t> for the next day</a:t>
            </a:r>
          </a:p>
          <a:p>
            <a:r>
              <a:rPr lang="en-US" b="1" dirty="0"/>
              <a:t>Output:</a:t>
            </a:r>
            <a:br>
              <a:rPr lang="en-US" dirty="0"/>
            </a:br>
            <a:r>
              <a:rPr lang="en-US" dirty="0"/>
              <a:t>Continuous values (e.g., 45.7, 1023.5, etc.)</a:t>
            </a:r>
          </a:p>
          <a:p>
            <a:endParaRPr lang="en-US" dirty="0"/>
          </a:p>
        </p:txBody>
      </p:sp>
    </p:spTree>
    <p:extLst>
      <p:ext uri="{BB962C8B-B14F-4D97-AF65-F5344CB8AC3E}">
        <p14:creationId xmlns:p14="http://schemas.microsoft.com/office/powerpoint/2010/main" val="4065420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B59B-6138-4B2F-B54B-16D8393075B2}"/>
              </a:ext>
            </a:extLst>
          </p:cNvPr>
          <p:cNvSpPr>
            <a:spLocks noGrp="1"/>
          </p:cNvSpPr>
          <p:nvPr>
            <p:ph type="title"/>
          </p:nvPr>
        </p:nvSpPr>
        <p:spPr/>
        <p:txBody>
          <a:bodyPr/>
          <a:lstStyle/>
          <a:p>
            <a:r>
              <a:rPr lang="en-US" dirty="0"/>
              <a:t>Unsupervised Learning</a:t>
            </a:r>
          </a:p>
        </p:txBody>
      </p:sp>
      <p:sp>
        <p:nvSpPr>
          <p:cNvPr id="3" name="Content Placeholder 2">
            <a:extLst>
              <a:ext uri="{FF2B5EF4-FFF2-40B4-BE49-F238E27FC236}">
                <a16:creationId xmlns:a16="http://schemas.microsoft.com/office/drawing/2014/main" id="{B83DFE19-29E8-49DF-AA8C-79486AD8C94C}"/>
              </a:ext>
            </a:extLst>
          </p:cNvPr>
          <p:cNvSpPr>
            <a:spLocks noGrp="1"/>
          </p:cNvSpPr>
          <p:nvPr>
            <p:ph idx="1"/>
          </p:nvPr>
        </p:nvSpPr>
        <p:spPr/>
        <p:txBody>
          <a:bodyPr>
            <a:normAutofit lnSpcReduction="10000"/>
          </a:bodyPr>
          <a:lstStyle/>
          <a:p>
            <a:r>
              <a:rPr lang="en-US" b="1" dirty="0"/>
              <a:t>Definition:</a:t>
            </a:r>
            <a:br>
              <a:rPr lang="en-US" dirty="0"/>
            </a:br>
            <a:r>
              <a:rPr lang="en-US" dirty="0"/>
              <a:t>The model is given data without labeled outputs and must find hidden patterns or structures in the data.</a:t>
            </a:r>
          </a:p>
          <a:p>
            <a:r>
              <a:rPr lang="en-US" b="1" dirty="0"/>
              <a:t>Examples:</a:t>
            </a:r>
            <a:endParaRPr lang="en-US" dirty="0"/>
          </a:p>
          <a:p>
            <a:pPr>
              <a:buFont typeface="Arial" panose="020B0604020202020204" pitchFamily="34" charset="0"/>
              <a:buChar char="•"/>
            </a:pPr>
            <a:r>
              <a:rPr lang="en-US" dirty="0"/>
              <a:t>Clustering (e.g., customer segmentation)</a:t>
            </a:r>
          </a:p>
          <a:p>
            <a:pPr>
              <a:buFont typeface="Arial" panose="020B0604020202020204" pitchFamily="34" charset="0"/>
              <a:buChar char="•"/>
            </a:pPr>
            <a:r>
              <a:rPr lang="en-US" dirty="0"/>
              <a:t>Dimensionality Reduction (e.g., PCA)</a:t>
            </a:r>
          </a:p>
          <a:p>
            <a:r>
              <a:rPr lang="en-US" b="1" dirty="0"/>
              <a:t>Algorithms:</a:t>
            </a:r>
            <a:endParaRPr lang="en-US" dirty="0"/>
          </a:p>
          <a:p>
            <a:pPr>
              <a:buFont typeface="Arial" panose="020B0604020202020204" pitchFamily="34" charset="0"/>
              <a:buChar char="•"/>
            </a:pPr>
            <a:r>
              <a:rPr lang="en-US" dirty="0"/>
              <a:t>k-Means, DBSCAN, Hierarchical Clustering, PCA, Autoencoders</a:t>
            </a:r>
          </a:p>
          <a:p>
            <a:endParaRPr lang="en-US" dirty="0"/>
          </a:p>
        </p:txBody>
      </p:sp>
    </p:spTree>
    <p:extLst>
      <p:ext uri="{BB962C8B-B14F-4D97-AF65-F5344CB8AC3E}">
        <p14:creationId xmlns:p14="http://schemas.microsoft.com/office/powerpoint/2010/main" val="4294385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28A07-9CBD-4165-9CF4-E86EB4F74087}"/>
              </a:ext>
            </a:extLst>
          </p:cNvPr>
          <p:cNvSpPr>
            <a:spLocks noGrp="1"/>
          </p:cNvSpPr>
          <p:nvPr>
            <p:ph type="title"/>
          </p:nvPr>
        </p:nvSpPr>
        <p:spPr/>
        <p:txBody>
          <a:bodyPr/>
          <a:lstStyle/>
          <a:p>
            <a:r>
              <a:rPr lang="en-US" b="1" dirty="0"/>
              <a:t>Clustering</a:t>
            </a:r>
            <a:endParaRPr lang="en-US" dirty="0"/>
          </a:p>
        </p:txBody>
      </p:sp>
      <p:sp>
        <p:nvSpPr>
          <p:cNvPr id="3" name="Content Placeholder 2">
            <a:extLst>
              <a:ext uri="{FF2B5EF4-FFF2-40B4-BE49-F238E27FC236}">
                <a16:creationId xmlns:a16="http://schemas.microsoft.com/office/drawing/2014/main" id="{A937EF53-C593-4EE7-96FD-E04F3811EFF9}"/>
              </a:ext>
            </a:extLst>
          </p:cNvPr>
          <p:cNvSpPr>
            <a:spLocks noGrp="1"/>
          </p:cNvSpPr>
          <p:nvPr>
            <p:ph idx="1"/>
          </p:nvPr>
        </p:nvSpPr>
        <p:spPr>
          <a:xfrm>
            <a:off x="1451579" y="2015732"/>
            <a:ext cx="9603275" cy="4037749"/>
          </a:xfrm>
        </p:spPr>
        <p:txBody>
          <a:bodyPr>
            <a:normAutofit fontScale="85000" lnSpcReduction="20000"/>
          </a:bodyPr>
          <a:lstStyle/>
          <a:p>
            <a:pPr marL="0" indent="0">
              <a:buNone/>
            </a:pPr>
            <a:r>
              <a:rPr lang="en-US" sz="2100" b="1" dirty="0"/>
              <a:t>Definition:</a:t>
            </a:r>
            <a:br>
              <a:rPr lang="en-US" sz="2100" dirty="0"/>
            </a:br>
            <a:r>
              <a:rPr lang="en-US" sz="2100" dirty="0"/>
              <a:t>Clustering is an </a:t>
            </a:r>
            <a:r>
              <a:rPr lang="en-US" sz="2100" b="1" dirty="0"/>
              <a:t>unsupervised learning</a:t>
            </a:r>
            <a:r>
              <a:rPr lang="en-US" sz="2100" dirty="0"/>
              <a:t> technique used to group similar data points together into clusters, where points in the same cluster are more similar to each other than to those in other clusters.</a:t>
            </a:r>
          </a:p>
          <a:p>
            <a:r>
              <a:rPr lang="en-US" sz="2100" b="1" dirty="0"/>
              <a:t>Example:</a:t>
            </a:r>
            <a:endParaRPr lang="en-US" sz="2100" dirty="0"/>
          </a:p>
          <a:p>
            <a:pPr>
              <a:buFont typeface="Arial" panose="020B0604020202020204" pitchFamily="34" charset="0"/>
              <a:buChar char="•"/>
            </a:pPr>
            <a:r>
              <a:rPr lang="en-US" sz="2100" b="1" dirty="0"/>
              <a:t>Customer segmentation:</a:t>
            </a:r>
            <a:r>
              <a:rPr lang="en-US" sz="2100" dirty="0"/>
              <a:t> Grouping customers based on their buying behavior so businesses can target each group differently.</a:t>
            </a:r>
          </a:p>
          <a:p>
            <a:r>
              <a:rPr lang="en-US" sz="2100" b="1" dirty="0"/>
              <a:t>Common Algorithms:</a:t>
            </a:r>
            <a:endParaRPr lang="en-US" sz="2100" dirty="0"/>
          </a:p>
          <a:p>
            <a:pPr>
              <a:buFont typeface="Arial" panose="020B0604020202020204" pitchFamily="34" charset="0"/>
              <a:buChar char="•"/>
            </a:pPr>
            <a:r>
              <a:rPr lang="en-US" sz="2100" dirty="0"/>
              <a:t>k-Means</a:t>
            </a:r>
          </a:p>
          <a:p>
            <a:pPr>
              <a:buFont typeface="Arial" panose="020B0604020202020204" pitchFamily="34" charset="0"/>
              <a:buChar char="•"/>
            </a:pPr>
            <a:r>
              <a:rPr lang="en-US" sz="2100" dirty="0"/>
              <a:t>DBSCAN</a:t>
            </a:r>
          </a:p>
          <a:p>
            <a:pPr>
              <a:buFont typeface="Arial" panose="020B0604020202020204" pitchFamily="34" charset="0"/>
              <a:buChar char="•"/>
            </a:pPr>
            <a:r>
              <a:rPr lang="en-US" sz="2100" dirty="0"/>
              <a:t>Hierarchical Clustering</a:t>
            </a:r>
          </a:p>
          <a:p>
            <a:endParaRPr lang="en-US" dirty="0"/>
          </a:p>
        </p:txBody>
      </p:sp>
    </p:spTree>
    <p:extLst>
      <p:ext uri="{BB962C8B-B14F-4D97-AF65-F5344CB8AC3E}">
        <p14:creationId xmlns:p14="http://schemas.microsoft.com/office/powerpoint/2010/main" val="2333035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26C0-3D46-42E5-8648-74C6EF97C971}"/>
              </a:ext>
            </a:extLst>
          </p:cNvPr>
          <p:cNvSpPr>
            <a:spLocks noGrp="1"/>
          </p:cNvSpPr>
          <p:nvPr>
            <p:ph type="title"/>
          </p:nvPr>
        </p:nvSpPr>
        <p:spPr/>
        <p:txBody>
          <a:bodyPr/>
          <a:lstStyle/>
          <a:p>
            <a:r>
              <a:rPr lang="en-US" b="1" dirty="0"/>
              <a:t>Dimensionality Reduction</a:t>
            </a:r>
            <a:br>
              <a:rPr lang="en-US" b="1" dirty="0"/>
            </a:br>
            <a:endParaRPr lang="en-US" dirty="0"/>
          </a:p>
        </p:txBody>
      </p:sp>
      <p:sp>
        <p:nvSpPr>
          <p:cNvPr id="3" name="Content Placeholder 2">
            <a:extLst>
              <a:ext uri="{FF2B5EF4-FFF2-40B4-BE49-F238E27FC236}">
                <a16:creationId xmlns:a16="http://schemas.microsoft.com/office/drawing/2014/main" id="{8E361F9F-A592-49A1-8AD7-8C9C7AF8B852}"/>
              </a:ext>
            </a:extLst>
          </p:cNvPr>
          <p:cNvSpPr>
            <a:spLocks noGrp="1"/>
          </p:cNvSpPr>
          <p:nvPr>
            <p:ph idx="1"/>
          </p:nvPr>
        </p:nvSpPr>
        <p:spPr>
          <a:xfrm>
            <a:off x="1451579" y="2015732"/>
            <a:ext cx="9603275" cy="4037749"/>
          </a:xfrm>
        </p:spPr>
        <p:txBody>
          <a:bodyPr>
            <a:normAutofit fontScale="77500" lnSpcReduction="20000"/>
          </a:bodyPr>
          <a:lstStyle/>
          <a:p>
            <a:r>
              <a:rPr lang="en-US" sz="2300" b="1" dirty="0"/>
              <a:t>Definition:</a:t>
            </a:r>
            <a:br>
              <a:rPr lang="en-US" sz="2300" dirty="0"/>
            </a:br>
            <a:r>
              <a:rPr lang="en-US" sz="2300" dirty="0"/>
              <a:t>Dimensionality reduction is a technique used to </a:t>
            </a:r>
            <a:r>
              <a:rPr lang="en-US" sz="2300" b="1" dirty="0"/>
              <a:t>reduce the number of input features</a:t>
            </a:r>
            <a:r>
              <a:rPr lang="en-US" sz="2300" dirty="0"/>
              <a:t> (dimensions) in a dataset while retaining as much important information as possible. It helps simplify models, reduce computation, and visualize high-dimensional data.</a:t>
            </a:r>
          </a:p>
          <a:p>
            <a:r>
              <a:rPr lang="en-US" sz="2300" b="1" dirty="0"/>
              <a:t>Example:</a:t>
            </a:r>
            <a:endParaRPr lang="en-US" sz="2300" dirty="0"/>
          </a:p>
          <a:p>
            <a:pPr>
              <a:buFont typeface="Arial" panose="020B0604020202020204" pitchFamily="34" charset="0"/>
              <a:buChar char="•"/>
            </a:pPr>
            <a:r>
              <a:rPr lang="en-US" sz="2300" b="1" dirty="0"/>
              <a:t>PCA (Principal Component Analysis):</a:t>
            </a:r>
            <a:r>
              <a:rPr lang="en-US" sz="2300" dirty="0"/>
              <a:t> Used to reduce many correlated features into a smaller set of uncorrelated variables (called principal components) for easier analysis or visualization.</a:t>
            </a:r>
          </a:p>
          <a:p>
            <a:r>
              <a:rPr lang="en-US" sz="2300" b="1" dirty="0"/>
              <a:t>Other Techniques:</a:t>
            </a:r>
            <a:endParaRPr lang="en-US" sz="2300" dirty="0"/>
          </a:p>
          <a:p>
            <a:pPr>
              <a:buFont typeface="Arial" panose="020B0604020202020204" pitchFamily="34" charset="0"/>
              <a:buChar char="•"/>
            </a:pPr>
            <a:r>
              <a:rPr lang="en-US" sz="2300" dirty="0"/>
              <a:t>t-SNE</a:t>
            </a:r>
          </a:p>
          <a:p>
            <a:pPr>
              <a:buFont typeface="Arial" panose="020B0604020202020204" pitchFamily="34" charset="0"/>
              <a:buChar char="•"/>
            </a:pPr>
            <a:r>
              <a:rPr lang="en-US" sz="2300" dirty="0"/>
              <a:t>LDA (Linear Discriminant Analysis)</a:t>
            </a:r>
          </a:p>
          <a:p>
            <a:pPr>
              <a:buFont typeface="Arial" panose="020B0604020202020204" pitchFamily="34" charset="0"/>
              <a:buChar char="•"/>
            </a:pPr>
            <a:r>
              <a:rPr lang="en-US" sz="2300" dirty="0"/>
              <a:t>Autoencoders</a:t>
            </a:r>
          </a:p>
          <a:p>
            <a:endParaRPr lang="en-US" dirty="0"/>
          </a:p>
        </p:txBody>
      </p:sp>
    </p:spTree>
    <p:extLst>
      <p:ext uri="{BB962C8B-B14F-4D97-AF65-F5344CB8AC3E}">
        <p14:creationId xmlns:p14="http://schemas.microsoft.com/office/powerpoint/2010/main" val="2352696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CEEE-97C1-4C65-969F-D03F0ADB6587}"/>
              </a:ext>
            </a:extLst>
          </p:cNvPr>
          <p:cNvSpPr>
            <a:spLocks noGrp="1"/>
          </p:cNvSpPr>
          <p:nvPr>
            <p:ph type="title"/>
          </p:nvPr>
        </p:nvSpPr>
        <p:spPr/>
        <p:txBody>
          <a:bodyPr/>
          <a:lstStyle/>
          <a:p>
            <a:r>
              <a:rPr lang="en-US" b="1" dirty="0"/>
              <a:t>Semi-Supervised Learning</a:t>
            </a:r>
            <a:br>
              <a:rPr lang="en-US" b="1" dirty="0"/>
            </a:br>
            <a:endParaRPr lang="en-US" dirty="0"/>
          </a:p>
        </p:txBody>
      </p:sp>
      <p:sp>
        <p:nvSpPr>
          <p:cNvPr id="3" name="Content Placeholder 2">
            <a:extLst>
              <a:ext uri="{FF2B5EF4-FFF2-40B4-BE49-F238E27FC236}">
                <a16:creationId xmlns:a16="http://schemas.microsoft.com/office/drawing/2014/main" id="{F7B42FE6-BBEB-4F46-B683-C8749A86DB76}"/>
              </a:ext>
            </a:extLst>
          </p:cNvPr>
          <p:cNvSpPr>
            <a:spLocks noGrp="1"/>
          </p:cNvSpPr>
          <p:nvPr>
            <p:ph idx="1"/>
          </p:nvPr>
        </p:nvSpPr>
        <p:spPr/>
        <p:txBody>
          <a:bodyPr>
            <a:normAutofit fontScale="92500" lnSpcReduction="10000"/>
          </a:bodyPr>
          <a:lstStyle/>
          <a:p>
            <a:r>
              <a:rPr lang="en-US" b="1" dirty="0"/>
              <a:t>Definition:</a:t>
            </a:r>
            <a:br>
              <a:rPr lang="en-US" dirty="0"/>
            </a:br>
            <a:r>
              <a:rPr lang="en-US" dirty="0"/>
              <a:t>Uses a small amount of labeled data and a large amount of unlabeled data to improve learning accuracy. It’s a mix of supervised and unsupervised learning.</a:t>
            </a:r>
          </a:p>
          <a:p>
            <a:r>
              <a:rPr lang="en-US" b="1" dirty="0"/>
              <a:t>Examples:</a:t>
            </a:r>
            <a:endParaRPr lang="en-US" dirty="0"/>
          </a:p>
          <a:p>
            <a:pPr>
              <a:buFont typeface="Arial" panose="020B0604020202020204" pitchFamily="34" charset="0"/>
              <a:buChar char="•"/>
            </a:pPr>
            <a:r>
              <a:rPr lang="en-US" dirty="0"/>
              <a:t>Text classification with few labeled examples</a:t>
            </a:r>
          </a:p>
          <a:p>
            <a:pPr>
              <a:buFont typeface="Arial" panose="020B0604020202020204" pitchFamily="34" charset="0"/>
              <a:buChar char="•"/>
            </a:pPr>
            <a:r>
              <a:rPr lang="en-US" dirty="0"/>
              <a:t>Image recognition with limited annotations</a:t>
            </a:r>
          </a:p>
          <a:p>
            <a:r>
              <a:rPr lang="en-US" b="1" dirty="0"/>
              <a:t>Algorithms:</a:t>
            </a:r>
            <a:endParaRPr lang="en-US" dirty="0"/>
          </a:p>
          <a:p>
            <a:pPr>
              <a:buFont typeface="Arial" panose="020B0604020202020204" pitchFamily="34" charset="0"/>
              <a:buChar char="•"/>
            </a:pPr>
            <a:r>
              <a:rPr lang="en-US" dirty="0"/>
              <a:t>Self-training, Co-training, Graph-based methods</a:t>
            </a:r>
          </a:p>
          <a:p>
            <a:endParaRPr lang="en-US" dirty="0"/>
          </a:p>
        </p:txBody>
      </p:sp>
    </p:spTree>
    <p:extLst>
      <p:ext uri="{BB962C8B-B14F-4D97-AF65-F5344CB8AC3E}">
        <p14:creationId xmlns:p14="http://schemas.microsoft.com/office/powerpoint/2010/main" val="2694081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4A7D7-3411-4071-9414-B8BCD7ADC61F}"/>
              </a:ext>
            </a:extLst>
          </p:cNvPr>
          <p:cNvSpPr>
            <a:spLocks noGrp="1"/>
          </p:cNvSpPr>
          <p:nvPr>
            <p:ph type="title"/>
          </p:nvPr>
        </p:nvSpPr>
        <p:spPr/>
        <p:txBody>
          <a:bodyPr/>
          <a:lstStyle/>
          <a:p>
            <a:r>
              <a:rPr lang="en-US" b="1" dirty="0"/>
              <a:t>Reinforcement Learning</a:t>
            </a:r>
            <a:br>
              <a:rPr lang="en-US" b="1" dirty="0"/>
            </a:br>
            <a:endParaRPr lang="en-US" dirty="0"/>
          </a:p>
        </p:txBody>
      </p:sp>
      <p:sp>
        <p:nvSpPr>
          <p:cNvPr id="3" name="Content Placeholder 2">
            <a:extLst>
              <a:ext uri="{FF2B5EF4-FFF2-40B4-BE49-F238E27FC236}">
                <a16:creationId xmlns:a16="http://schemas.microsoft.com/office/drawing/2014/main" id="{4DA871DC-10FF-4FDF-A4C2-943226EC0111}"/>
              </a:ext>
            </a:extLst>
          </p:cNvPr>
          <p:cNvSpPr>
            <a:spLocks noGrp="1"/>
          </p:cNvSpPr>
          <p:nvPr>
            <p:ph idx="1"/>
          </p:nvPr>
        </p:nvSpPr>
        <p:spPr/>
        <p:txBody>
          <a:bodyPr>
            <a:normAutofit fontScale="92500" lnSpcReduction="10000"/>
          </a:bodyPr>
          <a:lstStyle/>
          <a:p>
            <a:r>
              <a:rPr lang="en-US" b="1" dirty="0"/>
              <a:t>Definition:</a:t>
            </a:r>
            <a:br>
              <a:rPr lang="en-US" dirty="0"/>
            </a:br>
            <a:r>
              <a:rPr lang="en-US" dirty="0"/>
              <a:t>An agent learns to make decisions by performing actions in an environment and receiving rewards or penalties.</a:t>
            </a:r>
          </a:p>
          <a:p>
            <a:r>
              <a:rPr lang="en-US" b="1" dirty="0"/>
              <a:t>Examples:</a:t>
            </a:r>
            <a:endParaRPr lang="en-US" dirty="0"/>
          </a:p>
          <a:p>
            <a:pPr>
              <a:buFont typeface="Arial" panose="020B0604020202020204" pitchFamily="34" charset="0"/>
              <a:buChar char="•"/>
            </a:pPr>
            <a:r>
              <a:rPr lang="en-US" dirty="0"/>
              <a:t>Game playing (e.g., AlphaGo)</a:t>
            </a:r>
          </a:p>
          <a:p>
            <a:pPr>
              <a:buFont typeface="Arial" panose="020B0604020202020204" pitchFamily="34" charset="0"/>
              <a:buChar char="•"/>
            </a:pPr>
            <a:r>
              <a:rPr lang="en-US" dirty="0"/>
              <a:t>Robotics, recommendation systems</a:t>
            </a:r>
          </a:p>
          <a:p>
            <a:r>
              <a:rPr lang="en-US" b="1" dirty="0"/>
              <a:t>Algorithms:</a:t>
            </a:r>
            <a:endParaRPr lang="en-US" dirty="0"/>
          </a:p>
          <a:p>
            <a:pPr>
              <a:buFont typeface="Arial" panose="020B0604020202020204" pitchFamily="34" charset="0"/>
              <a:buChar char="•"/>
            </a:pPr>
            <a:r>
              <a:rPr lang="en-US" dirty="0"/>
              <a:t>Q-Learning, Deep Q-Networks, Policy Gradients, SARSA</a:t>
            </a:r>
          </a:p>
          <a:p>
            <a:endParaRPr lang="en-US" dirty="0"/>
          </a:p>
        </p:txBody>
      </p:sp>
    </p:spTree>
    <p:extLst>
      <p:ext uri="{BB962C8B-B14F-4D97-AF65-F5344CB8AC3E}">
        <p14:creationId xmlns:p14="http://schemas.microsoft.com/office/powerpoint/2010/main" val="574793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F803B-AE8A-4E75-99CA-5BF117FD32EB}"/>
              </a:ext>
            </a:extLst>
          </p:cNvPr>
          <p:cNvSpPr>
            <a:spLocks noGrp="1"/>
          </p:cNvSpPr>
          <p:nvPr>
            <p:ph type="title"/>
          </p:nvPr>
        </p:nvSpPr>
        <p:spPr/>
        <p:txBody>
          <a:bodyPr/>
          <a:lstStyle/>
          <a:p>
            <a:r>
              <a:rPr lang="en-US" dirty="0"/>
              <a:t>What is Machine Learning Lifecycle</a:t>
            </a:r>
            <a:br>
              <a:rPr lang="en-US" b="1" i="0" dirty="0">
                <a:solidFill>
                  <a:srgbClr val="273239"/>
                </a:solidFill>
                <a:effectLst/>
                <a:latin typeface="Source Sans 3"/>
              </a:rPr>
            </a:br>
            <a:endParaRPr lang="en-US" dirty="0"/>
          </a:p>
        </p:txBody>
      </p:sp>
      <p:sp>
        <p:nvSpPr>
          <p:cNvPr id="3" name="Content Placeholder 2">
            <a:extLst>
              <a:ext uri="{FF2B5EF4-FFF2-40B4-BE49-F238E27FC236}">
                <a16:creationId xmlns:a16="http://schemas.microsoft.com/office/drawing/2014/main" id="{69175713-9096-411F-BF70-5A13C8027867}"/>
              </a:ext>
            </a:extLst>
          </p:cNvPr>
          <p:cNvSpPr>
            <a:spLocks noGrp="1"/>
          </p:cNvSpPr>
          <p:nvPr>
            <p:ph idx="1"/>
          </p:nvPr>
        </p:nvSpPr>
        <p:spPr/>
        <p:txBody>
          <a:bodyPr/>
          <a:lstStyle/>
          <a:p>
            <a:r>
              <a:rPr lang="en-US" b="0" i="0" dirty="0">
                <a:solidFill>
                  <a:srgbClr val="273239"/>
                </a:solidFill>
                <a:effectLst/>
                <a:latin typeface="Nunito" pitchFamily="2" charset="0"/>
              </a:rPr>
              <a:t>Machine learning lifecycle is a process that guides development and deployment of machine learning models in a structured way. It consists of various steps. Each step plays a crucial role in ensuring the success and effectiveness of the machine learning model. By following the machine learning lifecycle we can solve complex problems, can get data-driven insights and create scalable and sustainable models. The steps are:</a:t>
            </a:r>
            <a:endParaRPr lang="en-US" dirty="0"/>
          </a:p>
        </p:txBody>
      </p:sp>
    </p:spTree>
    <p:extLst>
      <p:ext uri="{BB962C8B-B14F-4D97-AF65-F5344CB8AC3E}">
        <p14:creationId xmlns:p14="http://schemas.microsoft.com/office/powerpoint/2010/main" val="28247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D0C2-2D97-40F0-AD8D-800DFA277BA6}"/>
              </a:ext>
            </a:extLst>
          </p:cNvPr>
          <p:cNvSpPr>
            <a:spLocks noGrp="1"/>
          </p:cNvSpPr>
          <p:nvPr>
            <p:ph type="title"/>
          </p:nvPr>
        </p:nvSpPr>
        <p:spPr/>
        <p:txBody>
          <a:bodyPr/>
          <a:lstStyle/>
          <a:p>
            <a:r>
              <a:rPr lang="en-US" dirty="0"/>
              <a:t>Steps of machine learning life cycle</a:t>
            </a:r>
          </a:p>
        </p:txBody>
      </p:sp>
      <p:sp>
        <p:nvSpPr>
          <p:cNvPr id="3" name="Content Placeholder 2">
            <a:extLst>
              <a:ext uri="{FF2B5EF4-FFF2-40B4-BE49-F238E27FC236}">
                <a16:creationId xmlns:a16="http://schemas.microsoft.com/office/drawing/2014/main" id="{9FB3AE71-CC57-46FC-965D-57D1CF8E61C1}"/>
              </a:ext>
            </a:extLst>
          </p:cNvPr>
          <p:cNvSpPr>
            <a:spLocks noGrp="1"/>
          </p:cNvSpPr>
          <p:nvPr>
            <p:ph idx="1"/>
          </p:nvPr>
        </p:nvSpPr>
        <p:spPr/>
        <p:txBody>
          <a:bodyPr>
            <a:normAutofit fontScale="85000" lnSpcReduction="20000"/>
          </a:bodyPr>
          <a:lstStyle/>
          <a:p>
            <a:pPr algn="l" fontAlgn="base">
              <a:buFont typeface="+mj-lt"/>
              <a:buAutoNum type="arabicPeriod"/>
            </a:pPr>
            <a:r>
              <a:rPr lang="en-US" b="1" i="0" dirty="0">
                <a:solidFill>
                  <a:srgbClr val="273239"/>
                </a:solidFill>
                <a:effectLst/>
                <a:latin typeface="Nunito" pitchFamily="2" charset="0"/>
              </a:rPr>
              <a:t>Problem Definition</a:t>
            </a:r>
            <a:endParaRPr lang="en-US" b="0" i="0" dirty="0">
              <a:solidFill>
                <a:srgbClr val="273239"/>
              </a:solidFill>
              <a:effectLst/>
              <a:latin typeface="Nunito" pitchFamily="2" charset="0"/>
            </a:endParaRPr>
          </a:p>
          <a:p>
            <a:pPr algn="l" fontAlgn="base">
              <a:buFont typeface="+mj-lt"/>
              <a:buAutoNum type="arabicPeriod" startAt="2"/>
            </a:pPr>
            <a:r>
              <a:rPr lang="en-US" b="1" i="0" dirty="0">
                <a:solidFill>
                  <a:srgbClr val="273239"/>
                </a:solidFill>
                <a:effectLst/>
                <a:latin typeface="Nunito" pitchFamily="2" charset="0"/>
              </a:rPr>
              <a:t>Data Collection</a:t>
            </a:r>
            <a:endParaRPr lang="en-US" b="0" i="0" dirty="0">
              <a:solidFill>
                <a:srgbClr val="273239"/>
              </a:solidFill>
              <a:effectLst/>
              <a:latin typeface="Nunito" pitchFamily="2" charset="0"/>
            </a:endParaRPr>
          </a:p>
          <a:p>
            <a:pPr algn="l" fontAlgn="base">
              <a:buFont typeface="+mj-lt"/>
              <a:buAutoNum type="arabicPeriod" startAt="3"/>
            </a:pPr>
            <a:r>
              <a:rPr lang="en-US" b="1" i="0" dirty="0">
                <a:solidFill>
                  <a:srgbClr val="273239"/>
                </a:solidFill>
                <a:effectLst/>
                <a:latin typeface="Nunito" pitchFamily="2" charset="0"/>
              </a:rPr>
              <a:t>Data Cleaning and Preprocessing</a:t>
            </a:r>
            <a:endParaRPr lang="en-US" b="0" i="0" dirty="0">
              <a:solidFill>
                <a:srgbClr val="273239"/>
              </a:solidFill>
              <a:effectLst/>
              <a:latin typeface="Nunito" pitchFamily="2" charset="0"/>
            </a:endParaRPr>
          </a:p>
          <a:p>
            <a:pPr algn="l" fontAlgn="base">
              <a:buFont typeface="+mj-lt"/>
              <a:buAutoNum type="arabicPeriod" startAt="4"/>
            </a:pPr>
            <a:r>
              <a:rPr lang="en-US" b="1" i="0" dirty="0">
                <a:solidFill>
                  <a:srgbClr val="273239"/>
                </a:solidFill>
                <a:effectLst/>
                <a:latin typeface="Nunito" pitchFamily="2" charset="0"/>
              </a:rPr>
              <a:t>Exploratory Data Analysis (EDA)</a:t>
            </a:r>
            <a:endParaRPr lang="en-US" b="0" i="0" dirty="0">
              <a:solidFill>
                <a:srgbClr val="273239"/>
              </a:solidFill>
              <a:effectLst/>
              <a:latin typeface="Nunito" pitchFamily="2" charset="0"/>
            </a:endParaRPr>
          </a:p>
          <a:p>
            <a:pPr algn="l" fontAlgn="base">
              <a:buFont typeface="+mj-lt"/>
              <a:buAutoNum type="arabicPeriod" startAt="5"/>
            </a:pPr>
            <a:r>
              <a:rPr lang="en-US" b="1" i="0" dirty="0">
                <a:solidFill>
                  <a:srgbClr val="273239"/>
                </a:solidFill>
                <a:effectLst/>
                <a:latin typeface="Nunito" pitchFamily="2" charset="0"/>
              </a:rPr>
              <a:t>Feature Engineering and Selection</a:t>
            </a:r>
            <a:endParaRPr lang="en-US" b="0" i="0" dirty="0">
              <a:solidFill>
                <a:srgbClr val="273239"/>
              </a:solidFill>
              <a:effectLst/>
              <a:latin typeface="Nunito" pitchFamily="2" charset="0"/>
            </a:endParaRPr>
          </a:p>
          <a:p>
            <a:pPr algn="l" fontAlgn="base">
              <a:buFont typeface="+mj-lt"/>
              <a:buAutoNum type="arabicPeriod" startAt="6"/>
            </a:pPr>
            <a:r>
              <a:rPr lang="en-US" b="1" i="0" dirty="0">
                <a:solidFill>
                  <a:srgbClr val="273239"/>
                </a:solidFill>
                <a:effectLst/>
                <a:latin typeface="Nunito" pitchFamily="2" charset="0"/>
              </a:rPr>
              <a:t>Model Selection</a:t>
            </a:r>
            <a:endParaRPr lang="en-US" b="0" i="0" dirty="0">
              <a:solidFill>
                <a:srgbClr val="273239"/>
              </a:solidFill>
              <a:effectLst/>
              <a:latin typeface="Nunito" pitchFamily="2" charset="0"/>
            </a:endParaRPr>
          </a:p>
          <a:p>
            <a:pPr algn="l" fontAlgn="base">
              <a:buFont typeface="+mj-lt"/>
              <a:buAutoNum type="arabicPeriod" startAt="7"/>
            </a:pPr>
            <a:r>
              <a:rPr lang="en-US" b="1" i="0" dirty="0">
                <a:solidFill>
                  <a:srgbClr val="273239"/>
                </a:solidFill>
                <a:effectLst/>
                <a:latin typeface="Nunito" pitchFamily="2" charset="0"/>
              </a:rPr>
              <a:t>Model Training</a:t>
            </a:r>
            <a:endParaRPr lang="en-US" b="0" i="0" dirty="0">
              <a:solidFill>
                <a:srgbClr val="273239"/>
              </a:solidFill>
              <a:effectLst/>
              <a:latin typeface="Nunito" pitchFamily="2" charset="0"/>
            </a:endParaRPr>
          </a:p>
          <a:p>
            <a:pPr algn="l" fontAlgn="base">
              <a:buFont typeface="+mj-lt"/>
              <a:buAutoNum type="arabicPeriod" startAt="8"/>
            </a:pPr>
            <a:r>
              <a:rPr lang="en-US" b="1" i="0" dirty="0">
                <a:solidFill>
                  <a:srgbClr val="273239"/>
                </a:solidFill>
                <a:effectLst/>
                <a:latin typeface="Nunito" pitchFamily="2" charset="0"/>
              </a:rPr>
              <a:t>Model Evaluation and Tuning</a:t>
            </a:r>
          </a:p>
          <a:p>
            <a:pPr algn="l" fontAlgn="base">
              <a:buFont typeface="+mj-lt"/>
              <a:buAutoNum type="arabicPeriod" startAt="8"/>
            </a:pPr>
            <a:r>
              <a:rPr lang="en-US" b="1" i="0" dirty="0">
                <a:solidFill>
                  <a:srgbClr val="273239"/>
                </a:solidFill>
                <a:effectLst/>
                <a:latin typeface="Nunito" pitchFamily="2" charset="0"/>
              </a:rPr>
              <a:t>Model Monitoring and Maintenance</a:t>
            </a: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2935013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155DB-20DF-4622-B0BE-DE1B2ED1B081}"/>
              </a:ext>
            </a:extLst>
          </p:cNvPr>
          <p:cNvSpPr>
            <a:spLocks noGrp="1"/>
          </p:cNvSpPr>
          <p:nvPr>
            <p:ph type="title"/>
          </p:nvPr>
        </p:nvSpPr>
        <p:spPr/>
        <p:txBody>
          <a:bodyPr/>
          <a:lstStyle/>
          <a:p>
            <a:r>
              <a:rPr lang="en-US" b="1" i="0" dirty="0">
                <a:solidFill>
                  <a:srgbClr val="273239"/>
                </a:solidFill>
                <a:effectLst/>
                <a:latin typeface="Nunito" pitchFamily="2" charset="0"/>
              </a:rPr>
              <a:t>Step 1: Problem Definition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CEC063FA-6956-4C45-A102-8B559922F3D6}"/>
              </a:ext>
            </a:extLst>
          </p:cNvPr>
          <p:cNvSpPr>
            <a:spLocks noGrp="1"/>
          </p:cNvSpPr>
          <p:nvPr>
            <p:ph idx="1"/>
          </p:nvPr>
        </p:nvSpPr>
        <p:spPr/>
        <p:txBody>
          <a:bodyPr>
            <a:normAutofit fontScale="85000" lnSpcReduction="10000"/>
          </a:bodyPr>
          <a:lstStyle/>
          <a:p>
            <a:pPr algn="l" rtl="0" fontAlgn="base"/>
            <a:r>
              <a:rPr lang="en-US" b="0" i="0" dirty="0">
                <a:solidFill>
                  <a:srgbClr val="273239"/>
                </a:solidFill>
                <a:effectLst/>
                <a:latin typeface="Nunito" pitchFamily="2" charset="0"/>
              </a:rPr>
              <a:t>In this initial phase we need to identify the business problem and frame it. By framing the problem in a comprehensive manner, team can establishes foundation for machine learning lifecycle. Crucial elements such as </a:t>
            </a:r>
            <a:r>
              <a:rPr lang="en-US" b="1" i="0" dirty="0">
                <a:solidFill>
                  <a:srgbClr val="273239"/>
                </a:solidFill>
                <a:effectLst/>
                <a:latin typeface="Nunito" pitchFamily="2" charset="0"/>
              </a:rPr>
              <a:t>project objectives, desired outcomes and the scope of the task</a:t>
            </a:r>
            <a:r>
              <a:rPr lang="en-US" b="0" i="0" dirty="0">
                <a:solidFill>
                  <a:srgbClr val="273239"/>
                </a:solidFill>
                <a:effectLst/>
                <a:latin typeface="Nunito" pitchFamily="2" charset="0"/>
              </a:rPr>
              <a:t> are carefully designed during this stage.</a:t>
            </a:r>
          </a:p>
          <a:p>
            <a:pPr algn="l" rtl="0" fontAlgn="base"/>
            <a:r>
              <a:rPr lang="en-US" b="0" i="0" dirty="0">
                <a:solidFill>
                  <a:srgbClr val="273239"/>
                </a:solidFill>
                <a:effectLst/>
                <a:latin typeface="Nunito" pitchFamily="2" charset="0"/>
              </a:rPr>
              <a:t>Here are some steps for problem definition:</a:t>
            </a:r>
          </a:p>
          <a:p>
            <a:pPr algn="l" fontAlgn="base">
              <a:buFont typeface="Arial" panose="020B0604020202020204" pitchFamily="34" charset="0"/>
              <a:buChar char="•"/>
            </a:pPr>
            <a:r>
              <a:rPr lang="en-US" b="1" i="0" dirty="0">
                <a:solidFill>
                  <a:srgbClr val="273239"/>
                </a:solidFill>
                <a:effectLst/>
                <a:latin typeface="Nunito" pitchFamily="2" charset="0"/>
              </a:rPr>
              <a:t>Collaboration:</a:t>
            </a:r>
            <a:r>
              <a:rPr lang="en-US" b="0" i="0" dirty="0">
                <a:solidFill>
                  <a:srgbClr val="273239"/>
                </a:solidFill>
                <a:effectLst/>
                <a:latin typeface="Nunito" pitchFamily="2" charset="0"/>
              </a:rPr>
              <a:t> Work together with stakeholders to understand and define the business problem.</a:t>
            </a:r>
          </a:p>
          <a:p>
            <a:pPr algn="l" fontAlgn="base">
              <a:buFont typeface="Arial" panose="020B0604020202020204" pitchFamily="34" charset="0"/>
              <a:buChar char="•"/>
            </a:pPr>
            <a:r>
              <a:rPr lang="en-US" b="1" i="0" dirty="0">
                <a:solidFill>
                  <a:srgbClr val="273239"/>
                </a:solidFill>
                <a:effectLst/>
                <a:latin typeface="Nunito" pitchFamily="2" charset="0"/>
              </a:rPr>
              <a:t>Clarity: </a:t>
            </a:r>
            <a:r>
              <a:rPr lang="en-US" b="0" i="0" dirty="0">
                <a:solidFill>
                  <a:srgbClr val="273239"/>
                </a:solidFill>
                <a:effectLst/>
                <a:latin typeface="Nunito" pitchFamily="2" charset="0"/>
              </a:rPr>
              <a:t>Clearly write down the objectives, desired outcomes and scope of the task.</a:t>
            </a:r>
          </a:p>
          <a:p>
            <a:pPr algn="l" fontAlgn="base">
              <a:buFont typeface="Arial" panose="020B0604020202020204" pitchFamily="34" charset="0"/>
              <a:buChar char="•"/>
            </a:pPr>
            <a:r>
              <a:rPr lang="en-US" b="1" i="0" dirty="0">
                <a:solidFill>
                  <a:srgbClr val="273239"/>
                </a:solidFill>
                <a:effectLst/>
                <a:latin typeface="Nunito" pitchFamily="2" charset="0"/>
              </a:rPr>
              <a:t>Foundation: </a:t>
            </a:r>
            <a:r>
              <a:rPr lang="en-US" b="0" i="0" dirty="0">
                <a:solidFill>
                  <a:srgbClr val="273239"/>
                </a:solidFill>
                <a:effectLst/>
                <a:latin typeface="Nunito" pitchFamily="2" charset="0"/>
              </a:rPr>
              <a:t>Establish a solid foundation for the machine learning process by framing the problem comprehensively.</a:t>
            </a:r>
          </a:p>
        </p:txBody>
      </p:sp>
    </p:spTree>
    <p:extLst>
      <p:ext uri="{BB962C8B-B14F-4D97-AF65-F5344CB8AC3E}">
        <p14:creationId xmlns:p14="http://schemas.microsoft.com/office/powerpoint/2010/main" val="2727877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C69B3-CA5A-4223-92E8-F524910A3463}"/>
              </a:ext>
            </a:extLst>
          </p:cNvPr>
          <p:cNvSpPr>
            <a:spLocks noGrp="1"/>
          </p:cNvSpPr>
          <p:nvPr>
            <p:ph type="title"/>
          </p:nvPr>
        </p:nvSpPr>
        <p:spPr/>
        <p:txBody>
          <a:bodyPr/>
          <a:lstStyle/>
          <a:p>
            <a:r>
              <a:rPr lang="en-US" b="1" i="0" dirty="0">
                <a:solidFill>
                  <a:srgbClr val="273239"/>
                </a:solidFill>
                <a:effectLst/>
                <a:latin typeface="Nunito" pitchFamily="2" charset="0"/>
              </a:rPr>
              <a:t>Step 2: Data Collection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FDF35084-7B8E-4184-96B0-B1D8153946E8}"/>
              </a:ext>
            </a:extLst>
          </p:cNvPr>
          <p:cNvSpPr>
            <a:spLocks noGrp="1"/>
          </p:cNvSpPr>
          <p:nvPr>
            <p:ph idx="1"/>
          </p:nvPr>
        </p:nvSpPr>
        <p:spPr/>
        <p:txBody>
          <a:bodyPr>
            <a:normAutofit fontScale="85000" lnSpcReduction="20000"/>
          </a:bodyPr>
          <a:lstStyle/>
          <a:p>
            <a:r>
              <a:rPr lang="en-US" b="0" i="0" dirty="0">
                <a:solidFill>
                  <a:srgbClr val="273239"/>
                </a:solidFill>
                <a:effectLst/>
                <a:latin typeface="Nunito" pitchFamily="2" charset="0"/>
              </a:rPr>
              <a:t>After problem definition, machine learning lifecycle progresses to </a:t>
            </a:r>
            <a:r>
              <a:rPr lang="en-US" b="0" i="0" u="sng" dirty="0">
                <a:effectLst/>
                <a:latin typeface="Nunito" pitchFamily="2" charset="0"/>
                <a:hlinkClick r:id="rId2"/>
              </a:rPr>
              <a:t>data collection</a:t>
            </a:r>
            <a:r>
              <a:rPr lang="en-US" b="0" i="0" dirty="0">
                <a:solidFill>
                  <a:srgbClr val="273239"/>
                </a:solidFill>
                <a:effectLst/>
                <a:latin typeface="Nunito" pitchFamily="2" charset="0"/>
              </a:rPr>
              <a:t>. This phase involves systematic collection of datasets that can be used as raw data to train model. The quality and diversity of the data collected directly impact the robustness and generalization of the model.</a:t>
            </a:r>
          </a:p>
          <a:p>
            <a:pPr algn="l" rtl="0" fontAlgn="base"/>
            <a:r>
              <a:rPr lang="en-US" b="0" i="0" dirty="0">
                <a:solidFill>
                  <a:srgbClr val="273239"/>
                </a:solidFill>
                <a:effectLst/>
                <a:latin typeface="Nunito" pitchFamily="2" charset="0"/>
              </a:rPr>
              <a:t>Here are some basic features of Data Collection:</a:t>
            </a:r>
          </a:p>
          <a:p>
            <a:pPr algn="l" fontAlgn="base">
              <a:buFont typeface="Arial" panose="020B0604020202020204" pitchFamily="34" charset="0"/>
              <a:buChar char="•"/>
            </a:pPr>
            <a:r>
              <a:rPr lang="en-US" b="1" i="0" dirty="0">
                <a:solidFill>
                  <a:srgbClr val="273239"/>
                </a:solidFill>
                <a:effectLst/>
                <a:latin typeface="Nunito" pitchFamily="2" charset="0"/>
              </a:rPr>
              <a:t>Relevance:</a:t>
            </a:r>
            <a:r>
              <a:rPr lang="en-US" b="0" i="0" dirty="0">
                <a:solidFill>
                  <a:srgbClr val="273239"/>
                </a:solidFill>
                <a:effectLst/>
                <a:latin typeface="Nunito" pitchFamily="2" charset="0"/>
              </a:rPr>
              <a:t> Collect data should be relevant to the defined problem and include necessary features.</a:t>
            </a:r>
          </a:p>
          <a:p>
            <a:pPr algn="l" fontAlgn="base">
              <a:buFont typeface="Arial" panose="020B0604020202020204" pitchFamily="34" charset="0"/>
              <a:buChar char="•"/>
            </a:pPr>
            <a:r>
              <a:rPr lang="en-US" b="1" i="0" dirty="0">
                <a:solidFill>
                  <a:srgbClr val="273239"/>
                </a:solidFill>
                <a:effectLst/>
                <a:latin typeface="Nunito" pitchFamily="2" charset="0"/>
              </a:rPr>
              <a:t>Quality:</a:t>
            </a:r>
            <a:r>
              <a:rPr lang="en-US" b="0" i="0" dirty="0">
                <a:solidFill>
                  <a:srgbClr val="273239"/>
                </a:solidFill>
                <a:effectLst/>
                <a:latin typeface="Nunito" pitchFamily="2" charset="0"/>
              </a:rPr>
              <a:t> Ensure data quality by considering factors like accuracy and ethical use.</a:t>
            </a:r>
          </a:p>
          <a:p>
            <a:pPr algn="l" fontAlgn="base">
              <a:buFont typeface="Arial" panose="020B0604020202020204" pitchFamily="34" charset="0"/>
              <a:buChar char="•"/>
            </a:pPr>
            <a:r>
              <a:rPr lang="en-US" b="1" i="0" dirty="0">
                <a:solidFill>
                  <a:srgbClr val="273239"/>
                </a:solidFill>
                <a:effectLst/>
                <a:latin typeface="Nunito" pitchFamily="2" charset="0"/>
              </a:rPr>
              <a:t>Quantity:</a:t>
            </a:r>
            <a:r>
              <a:rPr lang="en-US" b="0" i="0" dirty="0">
                <a:solidFill>
                  <a:srgbClr val="273239"/>
                </a:solidFill>
                <a:effectLst/>
                <a:latin typeface="Nunito" pitchFamily="2" charset="0"/>
              </a:rPr>
              <a:t> Gather sufficient data volume to train a robust model.</a:t>
            </a:r>
          </a:p>
          <a:p>
            <a:pPr algn="l" fontAlgn="base">
              <a:buFont typeface="Arial" panose="020B0604020202020204" pitchFamily="34" charset="0"/>
              <a:buChar char="•"/>
            </a:pPr>
            <a:r>
              <a:rPr lang="en-US" b="1" i="0" dirty="0">
                <a:solidFill>
                  <a:srgbClr val="273239"/>
                </a:solidFill>
                <a:effectLst/>
                <a:latin typeface="Nunito" pitchFamily="2" charset="0"/>
              </a:rPr>
              <a:t>Diversity: </a:t>
            </a:r>
            <a:r>
              <a:rPr lang="en-US" b="0" i="0" dirty="0">
                <a:solidFill>
                  <a:srgbClr val="273239"/>
                </a:solidFill>
                <a:effectLst/>
                <a:latin typeface="Nunito" pitchFamily="2" charset="0"/>
              </a:rPr>
              <a:t>Include diverse datasets to capture a broad range of scenarios and patterns.</a:t>
            </a:r>
          </a:p>
          <a:p>
            <a:endParaRPr lang="en-US" dirty="0"/>
          </a:p>
        </p:txBody>
      </p:sp>
    </p:spTree>
    <p:extLst>
      <p:ext uri="{BB962C8B-B14F-4D97-AF65-F5344CB8AC3E}">
        <p14:creationId xmlns:p14="http://schemas.microsoft.com/office/powerpoint/2010/main" val="4041222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E9006-CA84-4DAF-ACB0-AA415FC3C8F3}"/>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Step 3: Data Cleaning and Preprocessing</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0F7DE800-3BCD-4B9E-AD83-D0968CBFB46E}"/>
              </a:ext>
            </a:extLst>
          </p:cNvPr>
          <p:cNvSpPr>
            <a:spLocks noGrp="1"/>
          </p:cNvSpPr>
          <p:nvPr>
            <p:ph idx="1"/>
          </p:nvPr>
        </p:nvSpPr>
        <p:spPr>
          <a:xfrm>
            <a:off x="1451579" y="2015732"/>
            <a:ext cx="9603275" cy="3868233"/>
          </a:xfrm>
        </p:spPr>
        <p:txBody>
          <a:bodyPr>
            <a:normAutofit fontScale="85000" lnSpcReduction="10000"/>
          </a:bodyPr>
          <a:lstStyle/>
          <a:p>
            <a:r>
              <a:rPr lang="en-US" b="0" i="0" dirty="0">
                <a:solidFill>
                  <a:srgbClr val="273239"/>
                </a:solidFill>
                <a:effectLst/>
                <a:latin typeface="Nunito" pitchFamily="2" charset="0"/>
              </a:rPr>
              <a:t>With datasets in hand now we need to do </a:t>
            </a:r>
            <a:r>
              <a:rPr lang="en-US" b="0" i="0" u="sng" dirty="0">
                <a:effectLst/>
                <a:latin typeface="Nunito" pitchFamily="2" charset="0"/>
                <a:hlinkClick r:id="rId2"/>
              </a:rPr>
              <a:t>data cleaning and preprocessing</a:t>
            </a:r>
            <a:r>
              <a:rPr lang="en-US" b="0" i="0" dirty="0">
                <a:solidFill>
                  <a:srgbClr val="273239"/>
                </a:solidFill>
                <a:effectLst/>
                <a:latin typeface="Nunito" pitchFamily="2" charset="0"/>
              </a:rPr>
              <a:t>. Raw data is often messy and unstructured and if we use this data directly to train then it can lead to poor accuracy and capturing unnecessary relation in data, data cleaning involves addressing issues such as missing values, outliers and inconsistencies in data that could compromise the accuracy and reliability of the machine learning model.</a:t>
            </a:r>
          </a:p>
          <a:p>
            <a:pPr algn="l" rtl="0" fontAlgn="base"/>
            <a:r>
              <a:rPr lang="en-US" b="0" i="0" dirty="0">
                <a:solidFill>
                  <a:srgbClr val="273239"/>
                </a:solidFill>
                <a:effectLst/>
                <a:latin typeface="Nunito" pitchFamily="2" charset="0"/>
              </a:rPr>
              <a:t>Here are the basic features of Data Cleaning and Preprocessing:</a:t>
            </a:r>
          </a:p>
          <a:p>
            <a:pPr algn="l" fontAlgn="base">
              <a:buFont typeface="Arial" panose="020B0604020202020204" pitchFamily="34" charset="0"/>
              <a:buChar char="•"/>
            </a:pPr>
            <a:r>
              <a:rPr lang="en-US" b="1" i="0" dirty="0">
                <a:solidFill>
                  <a:srgbClr val="273239"/>
                </a:solidFill>
                <a:effectLst/>
                <a:latin typeface="Nunito" pitchFamily="2" charset="0"/>
              </a:rPr>
              <a:t>Data Cleaning: </a:t>
            </a:r>
            <a:r>
              <a:rPr lang="en-US" b="0" i="0" dirty="0">
                <a:solidFill>
                  <a:srgbClr val="273239"/>
                </a:solidFill>
                <a:effectLst/>
                <a:latin typeface="Nunito" pitchFamily="2" charset="0"/>
              </a:rPr>
              <a:t>Address issues such as missing values, outliers and inconsistencies in the data.</a:t>
            </a:r>
          </a:p>
          <a:p>
            <a:pPr algn="l" fontAlgn="base">
              <a:buFont typeface="Arial" panose="020B0604020202020204" pitchFamily="34" charset="0"/>
              <a:buChar char="•"/>
            </a:pPr>
            <a:r>
              <a:rPr lang="en-US" b="1" i="0" dirty="0">
                <a:solidFill>
                  <a:srgbClr val="273239"/>
                </a:solidFill>
                <a:effectLst/>
                <a:latin typeface="Nunito" pitchFamily="2" charset="0"/>
              </a:rPr>
              <a:t>Data Preprocessing:</a:t>
            </a:r>
            <a:r>
              <a:rPr lang="en-US" b="0" i="0" dirty="0">
                <a:solidFill>
                  <a:srgbClr val="273239"/>
                </a:solidFill>
                <a:effectLst/>
                <a:latin typeface="Nunito" pitchFamily="2" charset="0"/>
              </a:rPr>
              <a:t> Standardize formats, scale values, and encode categorical variables for consistency.</a:t>
            </a:r>
          </a:p>
          <a:p>
            <a:pPr algn="l" fontAlgn="base">
              <a:buFont typeface="Arial" panose="020B0604020202020204" pitchFamily="34" charset="0"/>
              <a:buChar char="•"/>
            </a:pPr>
            <a:r>
              <a:rPr lang="en-US" b="1" i="0" dirty="0">
                <a:solidFill>
                  <a:srgbClr val="273239"/>
                </a:solidFill>
                <a:effectLst/>
                <a:latin typeface="Nunito" pitchFamily="2" charset="0"/>
              </a:rPr>
              <a:t>Data Quality: </a:t>
            </a:r>
            <a:r>
              <a:rPr lang="en-US" b="0" i="0" dirty="0">
                <a:solidFill>
                  <a:srgbClr val="273239"/>
                </a:solidFill>
                <a:effectLst/>
                <a:latin typeface="Nunito" pitchFamily="2" charset="0"/>
              </a:rPr>
              <a:t>Ensure that the data is well-organized and prepared for meaningful analysis.</a:t>
            </a:r>
          </a:p>
          <a:p>
            <a:endParaRPr lang="en-US" dirty="0"/>
          </a:p>
        </p:txBody>
      </p:sp>
    </p:spTree>
    <p:extLst>
      <p:ext uri="{BB962C8B-B14F-4D97-AF65-F5344CB8AC3E}">
        <p14:creationId xmlns:p14="http://schemas.microsoft.com/office/powerpoint/2010/main" val="2522524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0C094-C36B-45F4-B3BE-C8C39A73D594}"/>
              </a:ext>
            </a:extLst>
          </p:cNvPr>
          <p:cNvSpPr>
            <a:spLocks noGrp="1"/>
          </p:cNvSpPr>
          <p:nvPr>
            <p:ph type="title"/>
          </p:nvPr>
        </p:nvSpPr>
        <p:spPr/>
        <p:txBody>
          <a:bodyPr/>
          <a:lstStyle/>
          <a:p>
            <a:r>
              <a:rPr lang="en-US" b="1" i="0" dirty="0">
                <a:solidFill>
                  <a:srgbClr val="273239"/>
                </a:solidFill>
                <a:effectLst/>
                <a:latin typeface="Nunito" pitchFamily="2" charset="0"/>
              </a:rPr>
              <a:t>Step 4: Exploratory Data Analysis (EDA)</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16B24BCA-5B06-49ED-BD84-AD3486B32FD2}"/>
              </a:ext>
            </a:extLst>
          </p:cNvPr>
          <p:cNvSpPr>
            <a:spLocks noGrp="1"/>
          </p:cNvSpPr>
          <p:nvPr>
            <p:ph idx="1"/>
          </p:nvPr>
        </p:nvSpPr>
        <p:spPr/>
        <p:txBody>
          <a:bodyPr>
            <a:normAutofit fontScale="85000" lnSpcReduction="20000"/>
          </a:bodyPr>
          <a:lstStyle/>
          <a:p>
            <a:r>
              <a:rPr lang="en-US" b="0" i="0" dirty="0">
                <a:solidFill>
                  <a:srgbClr val="273239"/>
                </a:solidFill>
                <a:effectLst/>
                <a:latin typeface="Nunito" pitchFamily="2" charset="0"/>
              </a:rPr>
              <a:t>To find patterns and characteristics hidden in the data </a:t>
            </a:r>
            <a:r>
              <a:rPr lang="en-US" b="0" i="0" u="sng" dirty="0">
                <a:effectLst/>
                <a:latin typeface="Nunito" pitchFamily="2" charset="0"/>
                <a:hlinkClick r:id="rId2"/>
              </a:rPr>
              <a:t>Exploratory Data Analysis (EDA)</a:t>
            </a:r>
            <a:r>
              <a:rPr lang="en-US" b="0" i="0" dirty="0">
                <a:solidFill>
                  <a:srgbClr val="273239"/>
                </a:solidFill>
                <a:effectLst/>
                <a:latin typeface="Nunito" pitchFamily="2" charset="0"/>
              </a:rPr>
              <a:t> is used to uncover insights and understand the dataset's structure. During EDA patterns, trends and insights are provided which may not be visible by naked eyes. This valuable insight can be used to make informed decision.</a:t>
            </a:r>
          </a:p>
          <a:p>
            <a:pPr algn="l" rtl="0" fontAlgn="base"/>
            <a:r>
              <a:rPr lang="en-US" b="0" i="0" dirty="0">
                <a:solidFill>
                  <a:srgbClr val="273239"/>
                </a:solidFill>
                <a:effectLst/>
                <a:latin typeface="Nunito" pitchFamily="2" charset="0"/>
              </a:rPr>
              <a:t>Here are the basic features of Exploratory Data Analysis:</a:t>
            </a:r>
          </a:p>
          <a:p>
            <a:pPr algn="l" fontAlgn="base">
              <a:buFont typeface="Arial" panose="020B0604020202020204" pitchFamily="34" charset="0"/>
              <a:buChar char="•"/>
            </a:pPr>
            <a:r>
              <a:rPr lang="en-US" b="1" i="0" dirty="0">
                <a:solidFill>
                  <a:srgbClr val="273239"/>
                </a:solidFill>
                <a:effectLst/>
                <a:latin typeface="Nunito" pitchFamily="2" charset="0"/>
              </a:rPr>
              <a:t>Exploration:</a:t>
            </a:r>
            <a:r>
              <a:rPr lang="en-US" b="0" i="0" dirty="0">
                <a:solidFill>
                  <a:srgbClr val="273239"/>
                </a:solidFill>
                <a:effectLst/>
                <a:latin typeface="Nunito" pitchFamily="2" charset="0"/>
              </a:rPr>
              <a:t> Use statistical and visual tools to explore patterns in data.</a:t>
            </a:r>
          </a:p>
          <a:p>
            <a:pPr algn="l" fontAlgn="base">
              <a:buFont typeface="Arial" panose="020B0604020202020204" pitchFamily="34" charset="0"/>
              <a:buChar char="•"/>
            </a:pPr>
            <a:r>
              <a:rPr lang="en-US" b="1" i="0" dirty="0">
                <a:solidFill>
                  <a:srgbClr val="273239"/>
                </a:solidFill>
                <a:effectLst/>
                <a:latin typeface="Nunito" pitchFamily="2" charset="0"/>
              </a:rPr>
              <a:t>Patterns and Trends: </a:t>
            </a:r>
            <a:r>
              <a:rPr lang="en-US" b="0" i="0" dirty="0">
                <a:solidFill>
                  <a:srgbClr val="273239"/>
                </a:solidFill>
                <a:effectLst/>
                <a:latin typeface="Nunito" pitchFamily="2" charset="0"/>
              </a:rPr>
              <a:t>Identify underlying patterns, trends and potential challenges within the dataset.</a:t>
            </a:r>
          </a:p>
          <a:p>
            <a:pPr algn="l" fontAlgn="base">
              <a:buFont typeface="Arial" panose="020B0604020202020204" pitchFamily="34" charset="0"/>
              <a:buChar char="•"/>
            </a:pPr>
            <a:r>
              <a:rPr lang="en-US" b="1" i="0" dirty="0">
                <a:solidFill>
                  <a:srgbClr val="273239"/>
                </a:solidFill>
                <a:effectLst/>
                <a:latin typeface="Nunito" pitchFamily="2" charset="0"/>
              </a:rPr>
              <a:t>Insights:</a:t>
            </a:r>
            <a:r>
              <a:rPr lang="en-US" b="0" i="0" dirty="0">
                <a:solidFill>
                  <a:srgbClr val="273239"/>
                </a:solidFill>
                <a:effectLst/>
                <a:latin typeface="Nunito" pitchFamily="2" charset="0"/>
              </a:rPr>
              <a:t> Gain valuable insights for informed decisions making in later stages.</a:t>
            </a:r>
          </a:p>
          <a:p>
            <a:pPr algn="l" fontAlgn="base">
              <a:buFont typeface="Arial" panose="020B0604020202020204" pitchFamily="34" charset="0"/>
              <a:buChar char="•"/>
            </a:pPr>
            <a:r>
              <a:rPr lang="en-US" b="1" i="0" dirty="0">
                <a:solidFill>
                  <a:srgbClr val="273239"/>
                </a:solidFill>
                <a:effectLst/>
                <a:latin typeface="Nunito" pitchFamily="2" charset="0"/>
              </a:rPr>
              <a:t>Decision Making:</a:t>
            </a:r>
            <a:r>
              <a:rPr lang="en-US" b="0" i="0" dirty="0">
                <a:solidFill>
                  <a:srgbClr val="273239"/>
                </a:solidFill>
                <a:effectLst/>
                <a:latin typeface="Nunito" pitchFamily="2" charset="0"/>
              </a:rPr>
              <a:t> Use EDA for feature engineering and model selection.</a:t>
            </a:r>
          </a:p>
          <a:p>
            <a:endParaRPr lang="en-US" dirty="0"/>
          </a:p>
        </p:txBody>
      </p:sp>
    </p:spTree>
    <p:extLst>
      <p:ext uri="{BB962C8B-B14F-4D97-AF65-F5344CB8AC3E}">
        <p14:creationId xmlns:p14="http://schemas.microsoft.com/office/powerpoint/2010/main" val="4049984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793CB-E12E-4004-A82C-5B0AEB3C3B2D}"/>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Step 5: Feature Engineering and Selection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A7A1FDB5-ADCA-407E-957D-FB88CBC8E75C}"/>
              </a:ext>
            </a:extLst>
          </p:cNvPr>
          <p:cNvSpPr>
            <a:spLocks noGrp="1"/>
          </p:cNvSpPr>
          <p:nvPr>
            <p:ph idx="1"/>
          </p:nvPr>
        </p:nvSpPr>
        <p:spPr>
          <a:xfrm>
            <a:off x="1451579" y="1853754"/>
            <a:ext cx="9603275" cy="3924194"/>
          </a:xfrm>
        </p:spPr>
        <p:txBody>
          <a:bodyPr>
            <a:normAutofit fontScale="92500" lnSpcReduction="10000"/>
          </a:bodyPr>
          <a:lstStyle/>
          <a:p>
            <a:r>
              <a:rPr lang="en-US" b="0" i="0" dirty="0">
                <a:solidFill>
                  <a:srgbClr val="273239"/>
                </a:solidFill>
                <a:effectLst/>
                <a:latin typeface="Nunito" pitchFamily="2" charset="0"/>
              </a:rPr>
              <a:t>Feature Engineering is a transformative process that involve selecting only relevant features for model prediction. Feature selection refines pool of variables identifying the most relevant ones to enhance model efficiency and effectiveness.</a:t>
            </a:r>
          </a:p>
          <a:p>
            <a:pPr algn="l" rtl="0" fontAlgn="base"/>
            <a:r>
              <a:rPr lang="en-US" b="0" i="0" dirty="0">
                <a:solidFill>
                  <a:srgbClr val="273239"/>
                </a:solidFill>
                <a:effectLst/>
                <a:latin typeface="Nunito" pitchFamily="2" charset="0"/>
              </a:rPr>
              <a:t>Here are the basic features of Feature Engineering and Selection:</a:t>
            </a:r>
          </a:p>
          <a:p>
            <a:pPr algn="l" fontAlgn="base">
              <a:buFont typeface="Arial" panose="020B0604020202020204" pitchFamily="34" charset="0"/>
              <a:buChar char="•"/>
            </a:pPr>
            <a:r>
              <a:rPr lang="en-US" b="1" i="0" dirty="0">
                <a:solidFill>
                  <a:srgbClr val="273239"/>
                </a:solidFill>
                <a:effectLst/>
                <a:latin typeface="Nunito" pitchFamily="2" charset="0"/>
              </a:rPr>
              <a:t>Feature Engineering: </a:t>
            </a:r>
            <a:r>
              <a:rPr lang="en-US" b="0" i="0" dirty="0">
                <a:solidFill>
                  <a:srgbClr val="273239"/>
                </a:solidFill>
                <a:effectLst/>
                <a:latin typeface="Nunito" pitchFamily="2" charset="0"/>
              </a:rPr>
              <a:t>Create new features or transform existing ones to capture better patterns and relationships.</a:t>
            </a:r>
          </a:p>
          <a:p>
            <a:pPr algn="l" fontAlgn="base">
              <a:buFont typeface="Arial" panose="020B0604020202020204" pitchFamily="34" charset="0"/>
              <a:buChar char="•"/>
            </a:pPr>
            <a:r>
              <a:rPr lang="en-US" b="1" i="0" dirty="0">
                <a:solidFill>
                  <a:srgbClr val="273239"/>
                </a:solidFill>
                <a:effectLst/>
                <a:latin typeface="Nunito" pitchFamily="2" charset="0"/>
              </a:rPr>
              <a:t>Feature Selection: </a:t>
            </a:r>
            <a:r>
              <a:rPr lang="en-US" b="0" i="0" dirty="0">
                <a:solidFill>
                  <a:srgbClr val="273239"/>
                </a:solidFill>
                <a:effectLst/>
                <a:latin typeface="Nunito" pitchFamily="2" charset="0"/>
              </a:rPr>
              <a:t>Identify subset of features that most significantly impact the model's performance.</a:t>
            </a:r>
          </a:p>
          <a:p>
            <a:pPr algn="l" fontAlgn="base">
              <a:buFont typeface="Arial" panose="020B0604020202020204" pitchFamily="34" charset="0"/>
              <a:buChar char="•"/>
            </a:pPr>
            <a:r>
              <a:rPr lang="en-US" b="1" i="0" dirty="0">
                <a:solidFill>
                  <a:srgbClr val="273239"/>
                </a:solidFill>
                <a:effectLst/>
                <a:latin typeface="Nunito" pitchFamily="2" charset="0"/>
              </a:rPr>
              <a:t>Domain Expertise:</a:t>
            </a:r>
            <a:r>
              <a:rPr lang="en-US" b="0" i="0" dirty="0">
                <a:solidFill>
                  <a:srgbClr val="273239"/>
                </a:solidFill>
                <a:effectLst/>
                <a:latin typeface="Nunito" pitchFamily="2" charset="0"/>
              </a:rPr>
              <a:t> Use domain knowledge to engineer features that contribute meaningfully for prediction</a:t>
            </a:r>
            <a:r>
              <a:rPr lang="en-US" b="0" i="0" u="sng" dirty="0">
                <a:solidFill>
                  <a:srgbClr val="273239"/>
                </a:solidFill>
                <a:effectLst/>
                <a:latin typeface="Nunito" pitchFamily="2" charset="0"/>
                <a:hlinkClick r:id="rId2"/>
              </a:rPr>
              <a:t>.</a:t>
            </a: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2553626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C1F1-0006-444D-B757-EEA133C1A38B}"/>
              </a:ext>
            </a:extLst>
          </p:cNvPr>
          <p:cNvSpPr>
            <a:spLocks noGrp="1"/>
          </p:cNvSpPr>
          <p:nvPr>
            <p:ph type="title"/>
          </p:nvPr>
        </p:nvSpPr>
        <p:spPr/>
        <p:txBody>
          <a:bodyPr/>
          <a:lstStyle/>
          <a:p>
            <a:r>
              <a:rPr lang="en-US" b="1" i="0" dirty="0">
                <a:solidFill>
                  <a:srgbClr val="273239"/>
                </a:solidFill>
                <a:effectLst/>
                <a:latin typeface="Nunito" pitchFamily="2" charset="0"/>
              </a:rPr>
              <a:t>Step 6: Model Selection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4D506B76-306A-4332-ADE0-7C4FB5A00BFB}"/>
              </a:ext>
            </a:extLst>
          </p:cNvPr>
          <p:cNvSpPr>
            <a:spLocks noGrp="1"/>
          </p:cNvSpPr>
          <p:nvPr>
            <p:ph idx="1"/>
          </p:nvPr>
        </p:nvSpPr>
        <p:spPr>
          <a:xfrm>
            <a:off x="1451579" y="1853754"/>
            <a:ext cx="9603275" cy="3963950"/>
          </a:xfrm>
        </p:spPr>
        <p:txBody>
          <a:bodyPr>
            <a:normAutofit fontScale="77500" lnSpcReduction="20000"/>
          </a:bodyPr>
          <a:lstStyle/>
          <a:p>
            <a:pPr algn="l" rtl="0" fontAlgn="base"/>
            <a:r>
              <a:rPr lang="en-US" b="0" i="0" dirty="0">
                <a:solidFill>
                  <a:srgbClr val="273239"/>
                </a:solidFill>
                <a:effectLst/>
                <a:latin typeface="Nunito" pitchFamily="2" charset="0"/>
              </a:rPr>
              <a:t>For a good machine learning model, model selection is a very important part as we need to find model that aligns with our defined problem and the characteristics of the dataset. Model selection is a important decision that determines the algorithmic framework for prediction. The choice depends on the nature of the data, the complexity of the problem and the desired outcomes.</a:t>
            </a:r>
          </a:p>
          <a:p>
            <a:pPr algn="l" rtl="0" fontAlgn="base"/>
            <a:r>
              <a:rPr lang="en-US" b="0" i="0" dirty="0">
                <a:solidFill>
                  <a:srgbClr val="273239"/>
                </a:solidFill>
                <a:effectLst/>
                <a:latin typeface="Nunito" pitchFamily="2" charset="0"/>
              </a:rPr>
              <a:t>Here are the basic features of Model Selection:</a:t>
            </a:r>
          </a:p>
          <a:p>
            <a:pPr algn="l" fontAlgn="base">
              <a:buFont typeface="Arial" panose="020B0604020202020204" pitchFamily="34" charset="0"/>
              <a:buChar char="•"/>
            </a:pPr>
            <a:r>
              <a:rPr lang="en-US" b="1" i="0" dirty="0">
                <a:solidFill>
                  <a:srgbClr val="273239"/>
                </a:solidFill>
                <a:effectLst/>
                <a:latin typeface="Nunito" pitchFamily="2" charset="0"/>
              </a:rPr>
              <a:t>Alignment:</a:t>
            </a:r>
            <a:r>
              <a:rPr lang="en-US" b="0" i="0" dirty="0">
                <a:solidFill>
                  <a:srgbClr val="273239"/>
                </a:solidFill>
                <a:effectLst/>
                <a:latin typeface="Nunito" pitchFamily="2" charset="0"/>
              </a:rPr>
              <a:t> Select a model that aligns with the defined problem and characteristics of the dataset.</a:t>
            </a:r>
          </a:p>
          <a:p>
            <a:pPr algn="l" fontAlgn="base">
              <a:buFont typeface="Arial" panose="020B0604020202020204" pitchFamily="34" charset="0"/>
              <a:buChar char="•"/>
            </a:pPr>
            <a:r>
              <a:rPr lang="en-US" b="1" i="0" dirty="0">
                <a:solidFill>
                  <a:srgbClr val="273239"/>
                </a:solidFill>
                <a:effectLst/>
                <a:latin typeface="Nunito" pitchFamily="2" charset="0"/>
              </a:rPr>
              <a:t>Complexity: </a:t>
            </a:r>
            <a:r>
              <a:rPr lang="en-US" b="0" i="0" dirty="0">
                <a:solidFill>
                  <a:srgbClr val="273239"/>
                </a:solidFill>
                <a:effectLst/>
                <a:latin typeface="Nunito" pitchFamily="2" charset="0"/>
              </a:rPr>
              <a:t>Consider the complexity of the problem and the nature of the data when choosing a model.</a:t>
            </a:r>
          </a:p>
          <a:p>
            <a:pPr algn="l" fontAlgn="base">
              <a:buFont typeface="Arial" panose="020B0604020202020204" pitchFamily="34" charset="0"/>
              <a:buChar char="•"/>
            </a:pPr>
            <a:r>
              <a:rPr lang="en-US" b="1" i="0" dirty="0">
                <a:solidFill>
                  <a:srgbClr val="273239"/>
                </a:solidFill>
                <a:effectLst/>
                <a:latin typeface="Nunito" pitchFamily="2" charset="0"/>
              </a:rPr>
              <a:t>Decision Factors:</a:t>
            </a:r>
            <a:r>
              <a:rPr lang="en-US" b="0" i="0" dirty="0">
                <a:solidFill>
                  <a:srgbClr val="273239"/>
                </a:solidFill>
                <a:effectLst/>
                <a:latin typeface="Nunito" pitchFamily="2" charset="0"/>
              </a:rPr>
              <a:t> Evaluate factors like performance, interpretability and scalability when selecting a model.</a:t>
            </a:r>
          </a:p>
          <a:p>
            <a:pPr algn="l" fontAlgn="base">
              <a:buFont typeface="Arial" panose="020B0604020202020204" pitchFamily="34" charset="0"/>
              <a:buChar char="•"/>
            </a:pPr>
            <a:r>
              <a:rPr lang="en-US" b="1" i="0" dirty="0">
                <a:solidFill>
                  <a:srgbClr val="273239"/>
                </a:solidFill>
                <a:effectLst/>
                <a:latin typeface="Nunito" pitchFamily="2" charset="0"/>
              </a:rPr>
              <a:t>Experimentation:</a:t>
            </a:r>
            <a:r>
              <a:rPr lang="en-US" b="0" i="0" dirty="0">
                <a:solidFill>
                  <a:srgbClr val="273239"/>
                </a:solidFill>
                <a:effectLst/>
                <a:latin typeface="Nunito" pitchFamily="2" charset="0"/>
              </a:rPr>
              <a:t> Experiment with different models to find the best fit for the problem.</a:t>
            </a:r>
          </a:p>
          <a:p>
            <a:endParaRPr lang="en-US" dirty="0"/>
          </a:p>
        </p:txBody>
      </p:sp>
    </p:spTree>
    <p:extLst>
      <p:ext uri="{BB962C8B-B14F-4D97-AF65-F5344CB8AC3E}">
        <p14:creationId xmlns:p14="http://schemas.microsoft.com/office/powerpoint/2010/main" val="1046966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0686-A22C-4FFF-86AB-A1F582C36105}"/>
              </a:ext>
            </a:extLst>
          </p:cNvPr>
          <p:cNvSpPr>
            <a:spLocks noGrp="1"/>
          </p:cNvSpPr>
          <p:nvPr>
            <p:ph type="title"/>
          </p:nvPr>
        </p:nvSpPr>
        <p:spPr/>
        <p:txBody>
          <a:bodyPr/>
          <a:lstStyle/>
          <a:p>
            <a:r>
              <a:rPr lang="en-US" b="1" i="0" dirty="0">
                <a:solidFill>
                  <a:srgbClr val="273239"/>
                </a:solidFill>
                <a:effectLst/>
                <a:latin typeface="Nunito" pitchFamily="2" charset="0"/>
              </a:rPr>
              <a:t>Step 7: Model Training</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12DE0826-3FE5-4B31-82C2-B2E94CAC476B}"/>
              </a:ext>
            </a:extLst>
          </p:cNvPr>
          <p:cNvSpPr>
            <a:spLocks noGrp="1"/>
          </p:cNvSpPr>
          <p:nvPr>
            <p:ph idx="1"/>
          </p:nvPr>
        </p:nvSpPr>
        <p:spPr>
          <a:xfrm>
            <a:off x="1451579" y="2015732"/>
            <a:ext cx="9603275" cy="3735711"/>
          </a:xfrm>
        </p:spPr>
        <p:txBody>
          <a:bodyPr>
            <a:normAutofit fontScale="92500" lnSpcReduction="20000"/>
          </a:bodyPr>
          <a:lstStyle/>
          <a:p>
            <a:r>
              <a:rPr lang="en-US" b="0" i="0" dirty="0">
                <a:solidFill>
                  <a:srgbClr val="273239"/>
                </a:solidFill>
                <a:effectLst/>
                <a:latin typeface="Nunito" pitchFamily="2" charset="0"/>
              </a:rPr>
              <a:t>With the selected model the machine learning lifecycle moves to model training process. This process involves exposing model to historical data allowing it to learn patterns, relationships and dependencies within the dataset.</a:t>
            </a:r>
          </a:p>
          <a:p>
            <a:pPr algn="l" rtl="0" fontAlgn="base"/>
            <a:r>
              <a:rPr lang="en-US" b="0" i="0" dirty="0">
                <a:solidFill>
                  <a:srgbClr val="273239"/>
                </a:solidFill>
                <a:effectLst/>
                <a:latin typeface="Nunito" pitchFamily="2" charset="0"/>
              </a:rPr>
              <a:t>Here are the basic features of Model Training:</a:t>
            </a:r>
          </a:p>
          <a:p>
            <a:pPr algn="l" fontAlgn="base">
              <a:buFont typeface="Arial" panose="020B0604020202020204" pitchFamily="34" charset="0"/>
              <a:buChar char="•"/>
            </a:pPr>
            <a:r>
              <a:rPr lang="en-US" b="1" i="0" dirty="0">
                <a:solidFill>
                  <a:srgbClr val="273239"/>
                </a:solidFill>
                <a:effectLst/>
                <a:latin typeface="Nunito" pitchFamily="2" charset="0"/>
              </a:rPr>
              <a:t>Training Data:</a:t>
            </a:r>
            <a:r>
              <a:rPr lang="en-US" b="0" i="0" dirty="0">
                <a:solidFill>
                  <a:srgbClr val="273239"/>
                </a:solidFill>
                <a:effectLst/>
                <a:latin typeface="Nunito" pitchFamily="2" charset="0"/>
              </a:rPr>
              <a:t> Expose the model to historical data to learn patterns, relationships and dependencies.</a:t>
            </a:r>
          </a:p>
          <a:p>
            <a:pPr algn="l" fontAlgn="base">
              <a:buFont typeface="Arial" panose="020B0604020202020204" pitchFamily="34" charset="0"/>
              <a:buChar char="•"/>
            </a:pPr>
            <a:r>
              <a:rPr lang="en-US" b="1" i="0" dirty="0">
                <a:solidFill>
                  <a:srgbClr val="273239"/>
                </a:solidFill>
                <a:effectLst/>
                <a:latin typeface="Nunito" pitchFamily="2" charset="0"/>
              </a:rPr>
              <a:t>Iterative Process: </a:t>
            </a:r>
            <a:r>
              <a:rPr lang="en-US" b="0" i="0" dirty="0">
                <a:solidFill>
                  <a:srgbClr val="273239"/>
                </a:solidFill>
                <a:effectLst/>
                <a:latin typeface="Nunito" pitchFamily="2" charset="0"/>
              </a:rPr>
              <a:t>Train the model iteratively, adjusting parameters to minimize errors and enhance accuracy.</a:t>
            </a:r>
          </a:p>
          <a:p>
            <a:pPr algn="l" fontAlgn="base">
              <a:buFont typeface="Arial" panose="020B0604020202020204" pitchFamily="34" charset="0"/>
              <a:buChar char="•"/>
            </a:pPr>
            <a:r>
              <a:rPr lang="en-US" b="1" i="0" dirty="0">
                <a:solidFill>
                  <a:srgbClr val="273239"/>
                </a:solidFill>
                <a:effectLst/>
                <a:latin typeface="Nunito" pitchFamily="2" charset="0"/>
              </a:rPr>
              <a:t>Optimization:</a:t>
            </a:r>
            <a:r>
              <a:rPr lang="en-US" b="0" i="0" dirty="0">
                <a:solidFill>
                  <a:srgbClr val="273239"/>
                </a:solidFill>
                <a:effectLst/>
                <a:latin typeface="Nunito" pitchFamily="2" charset="0"/>
              </a:rPr>
              <a:t> Fine-tune model to optimize its predictive capabilities.</a:t>
            </a:r>
          </a:p>
          <a:p>
            <a:pPr algn="l" fontAlgn="base">
              <a:buFont typeface="Arial" panose="020B0604020202020204" pitchFamily="34" charset="0"/>
              <a:buChar char="•"/>
            </a:pPr>
            <a:r>
              <a:rPr lang="en-US" b="1" i="0" dirty="0">
                <a:solidFill>
                  <a:srgbClr val="273239"/>
                </a:solidFill>
                <a:effectLst/>
                <a:latin typeface="Nunito" pitchFamily="2" charset="0"/>
              </a:rPr>
              <a:t>Validation:</a:t>
            </a:r>
            <a:r>
              <a:rPr lang="en-US" b="0" i="0" dirty="0">
                <a:solidFill>
                  <a:srgbClr val="273239"/>
                </a:solidFill>
                <a:effectLst/>
                <a:latin typeface="Nunito" pitchFamily="2" charset="0"/>
              </a:rPr>
              <a:t> Rigorously train model to ensure accuracy to new unseen data.</a:t>
            </a:r>
          </a:p>
          <a:p>
            <a:endParaRPr lang="en-US" dirty="0"/>
          </a:p>
        </p:txBody>
      </p:sp>
    </p:spTree>
    <p:extLst>
      <p:ext uri="{BB962C8B-B14F-4D97-AF65-F5344CB8AC3E}">
        <p14:creationId xmlns:p14="http://schemas.microsoft.com/office/powerpoint/2010/main" val="1375212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398C0-8B8D-46C1-8954-CDA125D2CEEC}"/>
              </a:ext>
            </a:extLst>
          </p:cNvPr>
          <p:cNvSpPr>
            <a:spLocks noGrp="1"/>
          </p:cNvSpPr>
          <p:nvPr>
            <p:ph type="title"/>
          </p:nvPr>
        </p:nvSpPr>
        <p:spPr/>
        <p:txBody>
          <a:bodyPr/>
          <a:lstStyle/>
          <a:p>
            <a:r>
              <a:rPr lang="en-US" b="1" i="0" dirty="0">
                <a:solidFill>
                  <a:srgbClr val="273239"/>
                </a:solidFill>
                <a:effectLst/>
                <a:latin typeface="Nunito" pitchFamily="2" charset="0"/>
              </a:rPr>
              <a:t>Step 8: Model Evaluation and Tuning</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B915D2C9-9E61-4F5F-9E6A-4E6EFFF461DA}"/>
              </a:ext>
            </a:extLst>
          </p:cNvPr>
          <p:cNvSpPr>
            <a:spLocks noGrp="1"/>
          </p:cNvSpPr>
          <p:nvPr>
            <p:ph idx="1"/>
          </p:nvPr>
        </p:nvSpPr>
        <p:spPr>
          <a:xfrm>
            <a:off x="1451579" y="1853754"/>
            <a:ext cx="9603275" cy="3924194"/>
          </a:xfrm>
        </p:spPr>
        <p:txBody>
          <a:bodyPr>
            <a:normAutofit fontScale="85000" lnSpcReduction="20000"/>
          </a:bodyPr>
          <a:lstStyle/>
          <a:p>
            <a:r>
              <a:rPr lang="en-US" b="0" i="0" dirty="0">
                <a:solidFill>
                  <a:srgbClr val="273239"/>
                </a:solidFill>
                <a:effectLst/>
                <a:latin typeface="Nunito" pitchFamily="2" charset="0"/>
              </a:rPr>
              <a:t>Model Evaluation involves rigorous testing against validation or test datasets to test accuracy of model on new unseen data. We can use technique like accuracy, precision, recall and F1 score to check model effectiveness.</a:t>
            </a:r>
          </a:p>
          <a:p>
            <a:pPr algn="l" rtl="0" fontAlgn="base"/>
            <a:r>
              <a:rPr lang="en-US" b="0" i="0" dirty="0">
                <a:solidFill>
                  <a:srgbClr val="273239"/>
                </a:solidFill>
                <a:effectLst/>
                <a:latin typeface="Nunito" pitchFamily="2" charset="0"/>
              </a:rPr>
              <a:t>Here are the basic features of Model Evaluation and Tuning:</a:t>
            </a:r>
          </a:p>
          <a:p>
            <a:pPr algn="l" fontAlgn="base">
              <a:buFont typeface="Arial" panose="020B0604020202020204" pitchFamily="34" charset="0"/>
              <a:buChar char="•"/>
            </a:pPr>
            <a:r>
              <a:rPr lang="en-US" b="1" i="0" dirty="0">
                <a:solidFill>
                  <a:srgbClr val="273239"/>
                </a:solidFill>
                <a:effectLst/>
                <a:latin typeface="Nunito" pitchFamily="2" charset="0"/>
              </a:rPr>
              <a:t>Evaluation Metrics:</a:t>
            </a:r>
            <a:r>
              <a:rPr lang="en-US" b="0" i="0" dirty="0">
                <a:solidFill>
                  <a:srgbClr val="273239"/>
                </a:solidFill>
                <a:effectLst/>
                <a:latin typeface="Nunito" pitchFamily="2" charset="0"/>
              </a:rPr>
              <a:t> Use metrics like accuracy, precision, recall and F1 score to evaluate model performance.</a:t>
            </a:r>
          </a:p>
          <a:p>
            <a:pPr algn="l" fontAlgn="base">
              <a:buFont typeface="Arial" panose="020B0604020202020204" pitchFamily="34" charset="0"/>
              <a:buChar char="•"/>
            </a:pPr>
            <a:r>
              <a:rPr lang="en-US" b="1" i="0" dirty="0">
                <a:solidFill>
                  <a:srgbClr val="273239"/>
                </a:solidFill>
                <a:effectLst/>
                <a:latin typeface="Nunito" pitchFamily="2" charset="0"/>
              </a:rPr>
              <a:t>Strengths and Weaknesses: </a:t>
            </a:r>
            <a:r>
              <a:rPr lang="en-US" b="0" i="0" dirty="0">
                <a:solidFill>
                  <a:srgbClr val="273239"/>
                </a:solidFill>
                <a:effectLst/>
                <a:latin typeface="Nunito" pitchFamily="2" charset="0"/>
              </a:rPr>
              <a:t>Identify the strengths and weaknesses of the model through rigorous testing.</a:t>
            </a:r>
          </a:p>
          <a:p>
            <a:pPr algn="l" fontAlgn="base">
              <a:buFont typeface="Arial" panose="020B0604020202020204" pitchFamily="34" charset="0"/>
              <a:buChar char="•"/>
            </a:pPr>
            <a:r>
              <a:rPr lang="en-US" b="1" i="0" dirty="0">
                <a:solidFill>
                  <a:srgbClr val="273239"/>
                </a:solidFill>
                <a:effectLst/>
                <a:latin typeface="Nunito" pitchFamily="2" charset="0"/>
              </a:rPr>
              <a:t>Iterative Improvement: </a:t>
            </a:r>
            <a:r>
              <a:rPr lang="en-US" b="0" i="0" dirty="0">
                <a:solidFill>
                  <a:srgbClr val="273239"/>
                </a:solidFill>
                <a:effectLst/>
                <a:latin typeface="Nunito" pitchFamily="2" charset="0"/>
              </a:rPr>
              <a:t>Initiate model tuning to adjust hyperparameters and enhance predictive accuracy.</a:t>
            </a:r>
          </a:p>
          <a:p>
            <a:pPr algn="l" fontAlgn="base">
              <a:buFont typeface="Arial" panose="020B0604020202020204" pitchFamily="34" charset="0"/>
              <a:buChar char="•"/>
            </a:pPr>
            <a:r>
              <a:rPr lang="en-US" b="1" i="0" dirty="0">
                <a:solidFill>
                  <a:srgbClr val="273239"/>
                </a:solidFill>
                <a:effectLst/>
                <a:latin typeface="Nunito" pitchFamily="2" charset="0"/>
              </a:rPr>
              <a:t>Model Robustness:</a:t>
            </a:r>
            <a:r>
              <a:rPr lang="en-US" b="0" i="0" dirty="0">
                <a:solidFill>
                  <a:srgbClr val="273239"/>
                </a:solidFill>
                <a:effectLst/>
                <a:latin typeface="Nunito" pitchFamily="2" charset="0"/>
              </a:rPr>
              <a:t> Iterative tuning to achieve desired levels of model robustness and reliability.</a:t>
            </a:r>
          </a:p>
          <a:p>
            <a:endParaRPr lang="en-US" dirty="0"/>
          </a:p>
        </p:txBody>
      </p:sp>
    </p:spTree>
    <p:extLst>
      <p:ext uri="{BB962C8B-B14F-4D97-AF65-F5344CB8AC3E}">
        <p14:creationId xmlns:p14="http://schemas.microsoft.com/office/powerpoint/2010/main" val="311470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C7850-220B-44C6-8395-8D35BC71B9F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0FDC6F6-2E9D-4AA6-8A0F-57A1C5BDCD91}"/>
              </a:ext>
            </a:extLst>
          </p:cNvPr>
          <p:cNvSpPr>
            <a:spLocks noGrp="1"/>
          </p:cNvSpPr>
          <p:nvPr>
            <p:ph idx="1"/>
          </p:nvPr>
        </p:nvSpPr>
        <p:spPr/>
        <p:txBody>
          <a:bodyPr/>
          <a:lstStyle/>
          <a:p>
            <a:r>
              <a:rPr lang="en-US" b="0" i="0" dirty="0">
                <a:solidFill>
                  <a:srgbClr val="273239"/>
                </a:solidFill>
                <a:effectLst/>
                <a:latin typeface="Nunito" pitchFamily="2" charset="0"/>
              </a:rPr>
              <a:t>The Machine Learning lifecycle is a comprehensive and recursive process that involves multiple steps from problem definition to model deployment and maintenance. Each step is essential for building a successful machine learning model that can provide valuable insights and predictions. By following the Machine learning lifecycle organizations we can solve complex problems.</a:t>
            </a:r>
            <a:endParaRPr lang="en-US" dirty="0"/>
          </a:p>
        </p:txBody>
      </p:sp>
    </p:spTree>
    <p:extLst>
      <p:ext uri="{BB962C8B-B14F-4D97-AF65-F5344CB8AC3E}">
        <p14:creationId xmlns:p14="http://schemas.microsoft.com/office/powerpoint/2010/main" val="1630793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2CA198-61A4-4CA3-A4E7-F7694FA204F8}"/>
              </a:ext>
            </a:extLst>
          </p:cNvPr>
          <p:cNvSpPr>
            <a:spLocks noGrp="1"/>
          </p:cNvSpPr>
          <p:nvPr>
            <p:ph idx="1"/>
          </p:nvPr>
        </p:nvSpPr>
        <p:spPr/>
        <p:txBody>
          <a:bodyPr>
            <a:normAutofit/>
          </a:bodyPr>
          <a:lstStyle/>
          <a:p>
            <a:pPr marL="0" indent="0" algn="ctr">
              <a:buNone/>
            </a:pPr>
            <a:r>
              <a:rPr lang="en-US" sz="9600" dirty="0"/>
              <a:t>Thank You</a:t>
            </a:r>
          </a:p>
        </p:txBody>
      </p:sp>
    </p:spTree>
    <p:extLst>
      <p:ext uri="{BB962C8B-B14F-4D97-AF65-F5344CB8AC3E}">
        <p14:creationId xmlns:p14="http://schemas.microsoft.com/office/powerpoint/2010/main" val="423182640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77</TotalTime>
  <Words>1750</Words>
  <Application>Microsoft Office PowerPoint</Application>
  <PresentationFormat>Widescreen</PresentationFormat>
  <Paragraphs>129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Gill Sans MT</vt:lpstr>
      <vt:lpstr>Nunito</vt:lpstr>
      <vt:lpstr>PT Serif</vt:lpstr>
      <vt:lpstr>Roboto</vt:lpstr>
      <vt:lpstr>Source Sans 3</vt:lpstr>
      <vt:lpstr>Gallery</vt:lpstr>
      <vt:lpstr>Machine Learning Lifecycle </vt:lpstr>
      <vt:lpstr>What is MACHINE LEARNING</vt:lpstr>
      <vt:lpstr>Types of machine learning</vt:lpstr>
      <vt:lpstr>Supervised machine learning</vt:lpstr>
      <vt:lpstr>Classification</vt:lpstr>
      <vt:lpstr>Regression</vt:lpstr>
      <vt:lpstr>Unsupervised Learning</vt:lpstr>
      <vt:lpstr>Clustering</vt:lpstr>
      <vt:lpstr>Dimensionality Reduction </vt:lpstr>
      <vt:lpstr>Semi-Supervised Learning </vt:lpstr>
      <vt:lpstr>Reinforcement Learning </vt:lpstr>
      <vt:lpstr>What is Machine Learning Lifecycle </vt:lpstr>
      <vt:lpstr>Steps of machine learning life cycle</vt:lpstr>
      <vt:lpstr>Step 1: Problem Definition </vt:lpstr>
      <vt:lpstr>Step 2: Data Collection </vt:lpstr>
      <vt:lpstr>Step 3: Data Cleaning and Preprocessing </vt:lpstr>
      <vt:lpstr>Step 4: Exploratory Data Analysis (EDA) </vt:lpstr>
      <vt:lpstr>Step 5: Feature Engineering and Selection </vt:lpstr>
      <vt:lpstr>Step 6: Model Selection </vt:lpstr>
      <vt:lpstr>Step 7: Model Training </vt:lpstr>
      <vt:lpstr>Step 8: Model Evaluation and Tuning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Lifecycle</dc:title>
  <dc:creator>Shiza Hassan</dc:creator>
  <cp:lastModifiedBy>Shiza Hassan</cp:lastModifiedBy>
  <cp:revision>3</cp:revision>
  <dcterms:created xsi:type="dcterms:W3CDTF">2025-01-20T06:10:31Z</dcterms:created>
  <dcterms:modified xsi:type="dcterms:W3CDTF">2025-04-26T07:05:54Z</dcterms:modified>
</cp:coreProperties>
</file>